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A57E8A6-9E02-4F57-8642-DEBB9CA742F0}">
          <p14:sldIdLst>
            <p14:sldId id="256"/>
            <p14:sldId id="257"/>
          </p14:sldIdLst>
        </p14:section>
        <p14:section name="Phần 1" id="{0225B1D8-1E5A-4128-98C3-23B697EA1F35}">
          <p14:sldIdLst>
            <p14:sldId id="258"/>
            <p14:sldId id="259"/>
            <p14:sldId id="260"/>
          </p14:sldIdLst>
        </p14:section>
        <p14:section name="Phần 2" id="{460A0C94-7072-40DC-842C-0CD1C641F86F}">
          <p14:sldIdLst>
            <p14:sldId id="261"/>
            <p14:sldId id="262"/>
            <p14:sldId id="263"/>
            <p14:sldId id="264"/>
          </p14:sldIdLst>
        </p14:section>
        <p14:section name="Phần 3" id="{D66C8A79-F92D-40AB-ACA7-9FDFD87BAE0F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0D00B6-574B-30DA-8A4A-64FF303DB8A4}" v="516" dt="2026-01-05T08:19:18.669"/>
    <p1510:client id="{5E27D38D-21DF-1C73-66DE-7DACAA26C439}" v="40" dt="2026-01-05T11:15:17.039"/>
    <p1510:client id="{7D44C506-10FF-14C0-329E-76B0F73B1055}" v="184" dt="2026-01-05T11:08:19.0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>
      <p:cViewPr varScale="1">
        <p:scale>
          <a:sx n="85" d="100"/>
          <a:sy n="85" d="100"/>
        </p:scale>
        <p:origin x="30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Bấm &amp; sửa kiểu phụ đề của Bản chính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07/01/2026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77509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07/01/2026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73931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07/01/2026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39344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07/01/2026</a:t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1434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5" name="Chỗ dành sẵn cho Văn bản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6" name="Chỗ dành sẵn cho Nội dung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7" name="Chỗ dành sẵn cho Ngày tháng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07/01/2026</a:t>
            </a:fld>
            <a:endParaRPr lang="vi-VN"/>
          </a:p>
        </p:txBody>
      </p:sp>
      <p:sp>
        <p:nvSpPr>
          <p:cNvPr id="8" name="Chỗ dành sẵn cho Chân trang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95300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07/01/2026</a:t>
            </a:fld>
            <a:endParaRPr lang="vi-VN"/>
          </a:p>
        </p:txBody>
      </p:sp>
      <p:sp>
        <p:nvSpPr>
          <p:cNvPr id="4" name="Chỗ dành sẵn cho Chân trang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13401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07/01/2026</a:t>
            </a:fld>
            <a:endParaRPr lang="vi-VN"/>
          </a:p>
        </p:txBody>
      </p:sp>
      <p:sp>
        <p:nvSpPr>
          <p:cNvPr id="3" name="Chỗ dành sẵn cho Chân trang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38579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Phụ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Văn bản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07/01/2026</a:t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38026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Phụ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Hình ảnh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Chỗ dành sẵn cho Văn bản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07/01/2026</a:t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60145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ề và Văn bản Dọ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07/01/2026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47484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ề Dọc và Văn bả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07/01/2026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5000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87236D-C680-4349-9A96-AEA01B6A4E8F}" type="datetimeFigureOut">
              <a:rPr lang="vi-VN" smtClean="0"/>
              <a:t>07/01/2026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3642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eduscore.vercel.app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A19EAD6-E4EC-523A-1D8E-B15A76144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9235" y="4306087"/>
            <a:ext cx="3206371" cy="2555828"/>
          </a:xfrm>
          <a:prstGeom prst="rect">
            <a:avLst/>
          </a:prstGeom>
        </p:spPr>
      </p:pic>
      <p:sp>
        <p:nvSpPr>
          <p:cNvPr id="2" name="Tiêu đề 1"/>
          <p:cNvSpPr>
            <a:spLocks noGrp="1"/>
          </p:cNvSpPr>
          <p:nvPr>
            <p:ph type="ctrTitle"/>
          </p:nvPr>
        </p:nvSpPr>
        <p:spPr>
          <a:xfrm>
            <a:off x="1853821" y="1122363"/>
            <a:ext cx="9144000" cy="2387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 sz="3200">
                <a:latin typeface="Calibri"/>
                <a:ea typeface="Calibri"/>
                <a:cs typeface="Times New Roman"/>
              </a:rPr>
              <a:t>BÁO CÁO CHUYÊN NGÀNH</a:t>
            </a:r>
            <a:br>
              <a:rPr lang="vi-VN" sz="3200" dirty="0">
                <a:latin typeface="Calibri"/>
                <a:cs typeface="Times New Roman"/>
              </a:rPr>
            </a:br>
            <a:br>
              <a:rPr lang="vi-VN" sz="3200" dirty="0">
                <a:latin typeface="Calibri"/>
                <a:cs typeface="Times New Roman"/>
              </a:rPr>
            </a:br>
            <a:r>
              <a:rPr lang="vi-VN" sz="3200">
                <a:latin typeface="Calibri"/>
                <a:ea typeface="Calibri"/>
                <a:cs typeface="Times New Roman"/>
              </a:rPr>
              <a:t>Đề tài: </a:t>
            </a:r>
            <a:r>
              <a:rPr lang="vi-VN" sz="3200">
                <a:latin typeface="Calibri"/>
                <a:ea typeface="+mj-lt"/>
                <a:cs typeface="Times New Roman"/>
              </a:rPr>
              <a:t>Xây dựng Website Quản lý các Kỳ thi của Trung tâm Ngoại ngữ – Tin học</a:t>
            </a:r>
            <a:endParaRPr lang="vi-VN" sz="3200">
              <a:latin typeface="Calibri"/>
              <a:ea typeface="Calibri"/>
              <a:cs typeface="Times New Roman"/>
            </a:endParaRPr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</p:nvPr>
        </p:nvSpPr>
        <p:spPr>
          <a:xfrm>
            <a:off x="1558119" y="4182068"/>
            <a:ext cx="2991135" cy="171262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vi-VN" sz="2000" i="1" dirty="0">
                <a:latin typeface="Calibri"/>
                <a:ea typeface="Calibri"/>
                <a:cs typeface="Arial"/>
              </a:rPr>
              <a:t>Giáo viên hướng dẫn:</a:t>
            </a:r>
            <a:br>
              <a:rPr lang="vi-VN" sz="2000" dirty="0">
                <a:latin typeface="Calibri"/>
                <a:cs typeface="Arial"/>
              </a:rPr>
            </a:br>
            <a:r>
              <a:rPr lang="vi-VN" sz="2000">
                <a:latin typeface="Calibri"/>
                <a:ea typeface="Calibri"/>
                <a:cs typeface="Arial"/>
              </a:rPr>
              <a:t>ThS. Võ Thành C</a:t>
            </a:r>
            <a:endParaRPr lang="vi-VN" sz="2000">
              <a:latin typeface="Calibri"/>
              <a:ea typeface="Calibri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85662D-CEDD-FBC8-5914-74B34E721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158" y="457311"/>
            <a:ext cx="1379239" cy="1329817"/>
          </a:xfrm>
          <a:prstGeom prst="rect">
            <a:avLst/>
          </a:prstGeom>
        </p:spPr>
      </p:pic>
      <p:sp>
        <p:nvSpPr>
          <p:cNvPr id="6" name="Tiêu đề phụ 2">
            <a:extLst>
              <a:ext uri="{FF2B5EF4-FFF2-40B4-BE49-F238E27FC236}">
                <a16:creationId xmlns:a16="http://schemas.microsoft.com/office/drawing/2014/main" id="{3FC231BD-210F-732E-C143-E38BF432992A}"/>
              </a:ext>
            </a:extLst>
          </p:cNvPr>
          <p:cNvSpPr txBox="1">
            <a:spLocks/>
          </p:cNvSpPr>
          <p:nvPr/>
        </p:nvSpPr>
        <p:spPr>
          <a:xfrm>
            <a:off x="5998191" y="4584677"/>
            <a:ext cx="2991135" cy="1712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vi-VN" sz="2000" i="1" dirty="0">
                <a:latin typeface="Calibri"/>
                <a:ea typeface="Calibri"/>
                <a:cs typeface="Arial"/>
              </a:rPr>
              <a:t>Sinh viên thực hiện:</a:t>
            </a:r>
            <a:br>
              <a:rPr lang="vi-VN" sz="2000" dirty="0">
                <a:latin typeface="Calibri"/>
                <a:cs typeface="Arial"/>
              </a:rPr>
            </a:br>
            <a:r>
              <a:rPr lang="vi-VN" sz="2000">
                <a:latin typeface="Calibri"/>
                <a:ea typeface="Calibri"/>
                <a:cs typeface="Arial"/>
              </a:rPr>
              <a:t>Trần Tấn Hưng</a:t>
            </a:r>
          </a:p>
          <a:p>
            <a:pPr algn="l"/>
            <a:r>
              <a:rPr lang="vi-VN" sz="2000">
                <a:latin typeface="Calibri"/>
                <a:ea typeface="Calibri"/>
                <a:cs typeface="Arial"/>
              </a:rPr>
              <a:t>110122081</a:t>
            </a:r>
          </a:p>
          <a:p>
            <a:pPr algn="l"/>
            <a:r>
              <a:rPr lang="vi-VN" sz="2000">
                <a:latin typeface="Calibri"/>
                <a:ea typeface="Calibri"/>
                <a:cs typeface="Arial"/>
              </a:rPr>
              <a:t>DA22TTD</a:t>
            </a:r>
            <a:endParaRPr lang="vi-VN" sz="2000" dirty="0">
              <a:latin typeface="Calibri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67927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652A9A-BD69-615A-BD03-BBD469EE8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8677" y="553011"/>
            <a:ext cx="4229657" cy="196678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 err="1">
                <a:latin typeface="Calibri"/>
                <a:ea typeface="Calibri"/>
                <a:cs typeface="Times New Roman"/>
              </a:rPr>
              <a:t>Tổng</a:t>
            </a:r>
            <a:r>
              <a:rPr lang="en-US" sz="3600" dirty="0">
                <a:latin typeface="Calibri"/>
                <a:ea typeface="Calibri"/>
                <a:cs typeface="Times New Roman"/>
              </a:rPr>
              <a:t> </a:t>
            </a:r>
            <a:r>
              <a:rPr lang="en-US" sz="3600" dirty="0" err="1">
                <a:latin typeface="Calibri"/>
                <a:ea typeface="Calibri"/>
                <a:cs typeface="Times New Roman"/>
              </a:rPr>
              <a:t>quan</a:t>
            </a:r>
            <a:r>
              <a:rPr lang="en-US" sz="3600" dirty="0">
                <a:latin typeface="Calibri"/>
                <a:ea typeface="Calibri"/>
                <a:cs typeface="Times New Roman"/>
              </a:rPr>
              <a:t> </a:t>
            </a:r>
            <a:r>
              <a:rPr lang="en-US" sz="3600" dirty="0" err="1">
                <a:latin typeface="Calibri"/>
                <a:ea typeface="Calibri"/>
                <a:cs typeface="Times New Roman"/>
              </a:rPr>
              <a:t>nội</a:t>
            </a:r>
            <a:r>
              <a:rPr lang="en-US" sz="3600" dirty="0">
                <a:latin typeface="Calibri"/>
                <a:ea typeface="Calibri"/>
                <a:cs typeface="Times New Roman"/>
              </a:rPr>
              <a:t> dung</a:t>
            </a:r>
            <a:endParaRPr lang="en-US" dirty="0">
              <a:latin typeface="Calibri"/>
              <a:ea typeface="Calibri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Sách - Hình ảnh clipart vector miễn phí trên creazilla.com">
            <a:extLst>
              <a:ext uri="{FF2B5EF4-FFF2-40B4-BE49-F238E27FC236}">
                <a16:creationId xmlns:a16="http://schemas.microsoft.com/office/drawing/2014/main" id="{E29B9E60-F4FC-3779-F9F0-51F805A804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4" r="11852" b="9"/>
          <a:stretch>
            <a:fillRect/>
          </a:stretch>
        </p:blipFill>
        <p:spPr>
          <a:xfrm>
            <a:off x="505418" y="720405"/>
            <a:ext cx="5575935" cy="5575935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13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04F58-03F3-7DC8-E870-9370D1E0D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9679" y="2159545"/>
            <a:ext cx="4971526" cy="2913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US" dirty="0" err="1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Tổng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quan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đề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tài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endParaRPr lang="en-US">
              <a:solidFill>
                <a:schemeClr val="tx1">
                  <a:alpha val="80000"/>
                </a:schemeClr>
              </a:solidFill>
              <a:latin typeface="Calibri"/>
              <a:ea typeface="+mn-lt"/>
              <a:cs typeface="+mn-lt"/>
            </a:endParaRP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Công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nghệ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sử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dụng</a:t>
            </a:r>
            <a:endParaRPr lang="en-US" dirty="0" err="1">
              <a:solidFill>
                <a:schemeClr val="tx1">
                  <a:alpha val="80000"/>
                </a:schemeClr>
              </a:solidFill>
              <a:latin typeface="Calibri"/>
              <a:ea typeface="Calibri"/>
              <a:cs typeface="Calibri"/>
            </a:endParaRPr>
          </a:p>
          <a:p>
            <a:pPr marL="514350" indent="-514350">
              <a:buAutoNum type="arabicPeriod"/>
            </a:pPr>
            <a:r>
              <a:rPr lang="en-US" dirty="0" err="1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Phân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tích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 &amp;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Thiết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kế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hệ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thống</a:t>
            </a:r>
            <a:endParaRPr lang="en-US">
              <a:solidFill>
                <a:schemeClr val="tx1">
                  <a:alpha val="80000"/>
                </a:schemeClr>
              </a:solidFill>
              <a:latin typeface="Calibri"/>
              <a:ea typeface="+mn-lt"/>
              <a:cs typeface="+mn-lt"/>
            </a:endParaRPr>
          </a:p>
          <a:p>
            <a:pPr marL="514350" indent="-514350">
              <a:buAutoNum type="arabicPeriod"/>
            </a:pPr>
            <a:r>
              <a:rPr lang="en-US" dirty="0" err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Kết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quả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thực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nghiệm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 &amp;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Hướng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phát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triển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.</a:t>
            </a:r>
            <a:endParaRPr lang="en-US" dirty="0">
              <a:solidFill>
                <a:schemeClr val="tx1">
                  <a:alpha val="80000"/>
                </a:schemeClr>
              </a:solidFill>
              <a:latin typeface="Calibri"/>
              <a:ea typeface="+mn-lt"/>
              <a:cs typeface="+mn-lt"/>
            </a:endParaRPr>
          </a:p>
        </p:txBody>
      </p:sp>
      <p:sp>
        <p:nvSpPr>
          <p:cNvPr id="17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9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38259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698A4E-68C3-A8BC-8A53-ED568823E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rgbClr val="FFFFFF"/>
                </a:solidFill>
                <a:latin typeface="Calibri"/>
                <a:ea typeface="+mj-lt"/>
                <a:cs typeface="+mj-lt"/>
              </a:rPr>
              <a:t>TỔNG QUAN ĐỀ TÀI</a:t>
            </a:r>
            <a:endParaRPr lang="en-US" sz="3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C28AA-ED92-DD5A-CD55-A27B4FB56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44884"/>
            <a:ext cx="10515600" cy="404979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b="1" dirty="0" err="1">
                <a:latin typeface="Calibri"/>
                <a:ea typeface="Calibri"/>
                <a:cs typeface="Calibri"/>
              </a:rPr>
              <a:t>Đặt</a:t>
            </a:r>
            <a:r>
              <a:rPr lang="en-US" b="1" dirty="0">
                <a:latin typeface="Calibri"/>
                <a:ea typeface="Calibri"/>
                <a:cs typeface="Calibri"/>
              </a:rPr>
              <a:t> </a:t>
            </a:r>
            <a:r>
              <a:rPr lang="en-US" b="1" dirty="0" err="1">
                <a:latin typeface="Calibri"/>
                <a:ea typeface="Calibri"/>
                <a:cs typeface="Calibri"/>
              </a:rPr>
              <a:t>vấn</a:t>
            </a:r>
            <a:r>
              <a:rPr lang="en-US" b="1" dirty="0">
                <a:latin typeface="Calibri"/>
                <a:ea typeface="Calibri"/>
                <a:cs typeface="Calibri"/>
              </a:rPr>
              <a:t> </a:t>
            </a:r>
            <a:r>
              <a:rPr lang="en-US" b="1" dirty="0" err="1">
                <a:latin typeface="Calibri"/>
                <a:ea typeface="Calibri"/>
                <a:cs typeface="Calibri"/>
              </a:rPr>
              <a:t>đề</a:t>
            </a:r>
            <a:r>
              <a:rPr lang="en-US" b="1" dirty="0">
                <a:latin typeface="Calibri"/>
                <a:ea typeface="Calibri"/>
                <a:cs typeface="Calibri"/>
              </a:rPr>
              <a:t> &amp; </a:t>
            </a:r>
            <a:r>
              <a:rPr lang="en-US" b="1" dirty="0" err="1">
                <a:latin typeface="Calibri"/>
                <a:ea typeface="Calibri"/>
                <a:cs typeface="Calibri"/>
              </a:rPr>
              <a:t>Thực</a:t>
            </a:r>
            <a:r>
              <a:rPr lang="en-US" b="1" dirty="0">
                <a:latin typeface="Calibri"/>
                <a:ea typeface="Calibri"/>
                <a:cs typeface="Calibri"/>
              </a:rPr>
              <a:t> </a:t>
            </a:r>
            <a:r>
              <a:rPr lang="en-US" b="1" dirty="0" err="1">
                <a:latin typeface="Calibri"/>
                <a:ea typeface="Calibri"/>
                <a:cs typeface="Calibri"/>
              </a:rPr>
              <a:t>trạng</a:t>
            </a:r>
            <a:endParaRPr lang="en-US" b="1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b="1" dirty="0" err="1">
                <a:latin typeface="Calibri"/>
                <a:ea typeface="+mn-lt"/>
                <a:cs typeface="+mn-lt"/>
              </a:rPr>
              <a:t>Bối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dirty="0" err="1">
                <a:latin typeface="Calibri"/>
                <a:ea typeface="+mn-lt"/>
                <a:cs typeface="+mn-lt"/>
              </a:rPr>
              <a:t>cảnh</a:t>
            </a:r>
            <a:r>
              <a:rPr lang="en-US" b="1" dirty="0">
                <a:latin typeface="Calibri"/>
                <a:ea typeface="+mn-lt"/>
                <a:cs typeface="+mn-lt"/>
              </a:rPr>
              <a:t>:</a:t>
            </a:r>
            <a:r>
              <a:rPr lang="en-US" dirty="0">
                <a:latin typeface="Calibri"/>
                <a:ea typeface="+mn-lt"/>
                <a:cs typeface="+mn-lt"/>
              </a:rPr>
              <a:t> Các </a:t>
            </a:r>
            <a:r>
              <a:rPr lang="en-US" dirty="0" err="1">
                <a:latin typeface="Calibri"/>
                <a:ea typeface="+mn-lt"/>
                <a:cs typeface="+mn-lt"/>
              </a:rPr>
              <a:t>trung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tâm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hiện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vẫn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quản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lý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kỳ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thi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thủ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công</a:t>
            </a:r>
            <a:r>
              <a:rPr lang="en-US" dirty="0">
                <a:latin typeface="Calibri"/>
                <a:ea typeface="+mn-lt"/>
                <a:cs typeface="+mn-lt"/>
              </a:rPr>
              <a:t> (</a:t>
            </a:r>
            <a:r>
              <a:rPr lang="en-US" dirty="0" err="1">
                <a:latin typeface="Calibri"/>
                <a:ea typeface="+mn-lt"/>
                <a:cs typeface="+mn-lt"/>
              </a:rPr>
              <a:t>lập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danh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sách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giấy</a:t>
            </a:r>
            <a:r>
              <a:rPr lang="en-US" dirty="0"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latin typeface="Calibri"/>
                <a:ea typeface="+mn-lt"/>
                <a:cs typeface="+mn-lt"/>
              </a:rPr>
              <a:t>nhập</a:t>
            </a:r>
            <a:r>
              <a:rPr lang="en-US" dirty="0">
                <a:latin typeface="Calibri"/>
                <a:ea typeface="+mn-lt"/>
                <a:cs typeface="+mn-lt"/>
              </a:rPr>
              <a:t> Excel).</a:t>
            </a:r>
            <a:endParaRPr lang="en-US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b="1" dirty="0" err="1">
                <a:latin typeface="Calibri"/>
                <a:ea typeface="+mn-lt"/>
                <a:cs typeface="+mn-lt"/>
              </a:rPr>
              <a:t>Khó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dirty="0" err="1">
                <a:latin typeface="Calibri"/>
                <a:ea typeface="+mn-lt"/>
                <a:cs typeface="+mn-lt"/>
              </a:rPr>
              <a:t>khăn</a:t>
            </a:r>
            <a:r>
              <a:rPr lang="en-US" b="1" dirty="0">
                <a:latin typeface="Calibri"/>
                <a:ea typeface="+mn-lt"/>
                <a:cs typeface="+mn-lt"/>
              </a:rPr>
              <a:t>:</a:t>
            </a:r>
            <a:endParaRPr lang="en-US">
              <a:latin typeface="Calibri"/>
              <a:ea typeface="Calibri"/>
              <a:cs typeface="Calibri"/>
            </a:endParaRPr>
          </a:p>
          <a:p>
            <a:pPr lvl="1">
              <a:buFont typeface="Calibri" panose="020B0604020202020204" pitchFamily="34" charset="0"/>
              <a:buChar char="-"/>
            </a:pPr>
            <a:r>
              <a:rPr lang="en-US" sz="2800" dirty="0" err="1">
                <a:latin typeface="Calibri"/>
                <a:ea typeface="+mn-lt"/>
                <a:cs typeface="+mn-lt"/>
              </a:rPr>
              <a:t>Dữ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liệu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phân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tán</a:t>
            </a:r>
            <a:r>
              <a:rPr lang="en-US" sz="2800" dirty="0">
                <a:latin typeface="Calibri"/>
                <a:ea typeface="+mn-lt"/>
                <a:cs typeface="+mn-lt"/>
              </a:rPr>
              <a:t>,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khó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đồng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bộ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giữa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các</a:t>
            </a:r>
            <a:r>
              <a:rPr lang="en-US" sz="2800" dirty="0">
                <a:latin typeface="Calibri"/>
                <a:ea typeface="+mn-lt"/>
                <a:cs typeface="+mn-lt"/>
              </a:rPr>
              <a:t> file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rời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rạc</a:t>
            </a:r>
            <a:r>
              <a:rPr lang="en-US" sz="2800" dirty="0">
                <a:latin typeface="Calibri"/>
                <a:ea typeface="+mn-lt"/>
                <a:cs typeface="+mn-lt"/>
              </a:rPr>
              <a:t>.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 lvl="1">
              <a:buFont typeface="Calibri" panose="020B0604020202020204" pitchFamily="34" charset="0"/>
              <a:buChar char="-"/>
            </a:pPr>
            <a:r>
              <a:rPr lang="en-US" sz="2800" dirty="0" err="1">
                <a:latin typeface="Calibri"/>
                <a:ea typeface="+mn-lt"/>
                <a:cs typeface="+mn-lt"/>
              </a:rPr>
              <a:t>Dễ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xảy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ra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sai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sót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khi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nhập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điểm</a:t>
            </a:r>
            <a:r>
              <a:rPr lang="en-US" sz="2800" dirty="0">
                <a:latin typeface="Calibri"/>
                <a:ea typeface="+mn-lt"/>
                <a:cs typeface="+mn-lt"/>
              </a:rPr>
              <a:t>,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tốn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thời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gian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kiểm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tra</a:t>
            </a:r>
            <a:r>
              <a:rPr lang="en-US" sz="2800" dirty="0">
                <a:latin typeface="Calibri"/>
                <a:ea typeface="+mn-lt"/>
                <a:cs typeface="+mn-lt"/>
              </a:rPr>
              <a:t>.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 lvl="1">
              <a:buFont typeface="Calibri" panose="020B0604020202020204" pitchFamily="34" charset="0"/>
              <a:buChar char="-"/>
            </a:pPr>
            <a:r>
              <a:rPr lang="en-US" sz="2800" dirty="0">
                <a:latin typeface="Calibri"/>
                <a:ea typeface="+mn-lt"/>
                <a:cs typeface="+mn-lt"/>
              </a:rPr>
              <a:t>Học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viên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khó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khăn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khi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tra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cứu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kết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quả</a:t>
            </a:r>
            <a:r>
              <a:rPr lang="en-US" sz="2800" dirty="0">
                <a:latin typeface="Calibri"/>
                <a:ea typeface="+mn-lt"/>
                <a:cs typeface="+mn-lt"/>
              </a:rPr>
              <a:t> (</a:t>
            </a:r>
            <a:r>
              <a:rPr lang="en-US" sz="2800" dirty="0" err="1">
                <a:latin typeface="Calibri"/>
                <a:ea typeface="+mn-lt"/>
                <a:cs typeface="+mn-lt"/>
              </a:rPr>
              <a:t>phải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đến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trực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tiếp</a:t>
            </a:r>
            <a:r>
              <a:rPr lang="en-US" sz="2800" dirty="0">
                <a:latin typeface="Calibri"/>
                <a:ea typeface="+mn-lt"/>
                <a:cs typeface="+mn-lt"/>
              </a:rPr>
              <a:t>/</a:t>
            </a:r>
            <a:r>
              <a:rPr lang="en-US" sz="2800" dirty="0" err="1">
                <a:latin typeface="Calibri"/>
                <a:ea typeface="+mn-lt"/>
                <a:cs typeface="+mn-lt"/>
              </a:rPr>
              <a:t>gọi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điện</a:t>
            </a:r>
            <a:r>
              <a:rPr lang="en-US" sz="2800" dirty="0">
                <a:latin typeface="Calibri"/>
                <a:ea typeface="+mn-lt"/>
                <a:cs typeface="+mn-lt"/>
              </a:rPr>
              <a:t>).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b="1" dirty="0">
                <a:latin typeface="Calibri"/>
                <a:ea typeface="+mn-lt"/>
                <a:cs typeface="+mn-lt"/>
              </a:rPr>
              <a:t>Nhu </a:t>
            </a:r>
            <a:r>
              <a:rPr lang="en-US" b="1" dirty="0" err="1">
                <a:latin typeface="Calibri"/>
                <a:ea typeface="+mn-lt"/>
                <a:cs typeface="+mn-lt"/>
              </a:rPr>
              <a:t>cầu</a:t>
            </a:r>
            <a:r>
              <a:rPr lang="en-US" b="1" dirty="0">
                <a:latin typeface="Calibri"/>
                <a:ea typeface="+mn-lt"/>
                <a:cs typeface="+mn-lt"/>
              </a:rPr>
              <a:t>: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Cần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một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hệ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thống</a:t>
            </a:r>
            <a:r>
              <a:rPr lang="en-US" dirty="0">
                <a:latin typeface="Calibri"/>
                <a:ea typeface="+mn-lt"/>
                <a:cs typeface="+mn-lt"/>
              </a:rPr>
              <a:t> website </a:t>
            </a:r>
            <a:r>
              <a:rPr lang="en-US" dirty="0" err="1">
                <a:latin typeface="Calibri"/>
                <a:ea typeface="+mn-lt"/>
                <a:cs typeface="+mn-lt"/>
              </a:rPr>
              <a:t>tập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trung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để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số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hóa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quy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trình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này</a:t>
            </a:r>
            <a:r>
              <a:rPr lang="en-US" dirty="0">
                <a:latin typeface="Calibri"/>
                <a:ea typeface="+mn-lt"/>
                <a:cs typeface="+mn-lt"/>
              </a:rPr>
              <a:t>.</a:t>
            </a:r>
            <a:endParaRPr lang="en-US" dirty="0">
              <a:latin typeface="Calibri"/>
              <a:ea typeface="Calibri"/>
              <a:cs typeface="Calibri"/>
            </a:endParaRP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0511859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8314AA-58E1-FE6D-DF65-3E3E09580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1A31673-3F07-02DB-457D-889A1ACB89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9C9E46B-0AEC-7756-575D-F106BC260F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126E67-8054-C547-7BF1-F60852C88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rgbClr val="FFFFFF"/>
                </a:solidFill>
                <a:latin typeface="Calibri"/>
                <a:ea typeface="+mj-lt"/>
                <a:cs typeface="+mj-lt"/>
              </a:rPr>
              <a:t>TỔNG QUAN ĐỀ TÀI</a:t>
            </a:r>
            <a:endParaRPr lang="en-US" sz="3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61E4F-6E2C-66B6-4841-A38BF1218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 dirty="0" err="1">
                <a:latin typeface="Calibri"/>
                <a:ea typeface="Calibri"/>
                <a:cs typeface="Calibri"/>
              </a:rPr>
              <a:t>Mục</a:t>
            </a:r>
            <a:r>
              <a:rPr lang="en-US" b="1" dirty="0">
                <a:latin typeface="Calibri"/>
                <a:ea typeface="Calibri"/>
                <a:cs typeface="Calibri"/>
              </a:rPr>
              <a:t> </a:t>
            </a:r>
            <a:r>
              <a:rPr lang="en-US" b="1" dirty="0" err="1">
                <a:latin typeface="Calibri"/>
                <a:ea typeface="Calibri"/>
                <a:cs typeface="Calibri"/>
              </a:rPr>
              <a:t>đích</a:t>
            </a:r>
            <a:r>
              <a:rPr lang="en-US" b="1" dirty="0">
                <a:latin typeface="Calibri"/>
                <a:ea typeface="Calibri"/>
                <a:cs typeface="Calibri"/>
              </a:rPr>
              <a:t> &amp; </a:t>
            </a:r>
            <a:r>
              <a:rPr lang="en-US" b="1" dirty="0" err="1">
                <a:latin typeface="Calibri"/>
                <a:ea typeface="Calibri"/>
                <a:cs typeface="Calibri"/>
              </a:rPr>
              <a:t>Giải</a:t>
            </a:r>
            <a:r>
              <a:rPr lang="en-US" b="1" dirty="0">
                <a:latin typeface="Calibri"/>
                <a:ea typeface="Calibri"/>
                <a:cs typeface="Calibri"/>
              </a:rPr>
              <a:t> </a:t>
            </a:r>
            <a:r>
              <a:rPr lang="en-US" b="1" dirty="0" err="1">
                <a:latin typeface="Calibri"/>
                <a:ea typeface="Calibri"/>
                <a:cs typeface="Calibri"/>
              </a:rPr>
              <a:t>pháp</a:t>
            </a:r>
            <a:r>
              <a:rPr lang="en-US" b="1" dirty="0">
                <a:latin typeface="Calibri"/>
                <a:ea typeface="Calibri"/>
                <a:cs typeface="Calibri"/>
              </a:rPr>
              <a:t> </a:t>
            </a:r>
            <a:r>
              <a:rPr lang="en-US" b="1" dirty="0" err="1">
                <a:latin typeface="Calibri"/>
                <a:ea typeface="Calibri"/>
                <a:cs typeface="Calibri"/>
              </a:rPr>
              <a:t>đề</a:t>
            </a:r>
            <a:r>
              <a:rPr lang="en-US" b="1" dirty="0">
                <a:latin typeface="Calibri"/>
                <a:ea typeface="Calibri"/>
                <a:cs typeface="Calibri"/>
              </a:rPr>
              <a:t> </a:t>
            </a:r>
            <a:r>
              <a:rPr lang="en-US" b="1" dirty="0" err="1">
                <a:latin typeface="Calibri"/>
                <a:ea typeface="Calibri"/>
                <a:cs typeface="Calibri"/>
              </a:rPr>
              <a:t>xuất</a:t>
            </a:r>
            <a:endParaRPr lang="en-US" b="1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b="1" dirty="0" err="1">
                <a:latin typeface="Calibri"/>
                <a:ea typeface="+mn-lt"/>
                <a:cs typeface="+mn-lt"/>
              </a:rPr>
              <a:t>Mục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dirty="0" err="1">
                <a:latin typeface="Calibri"/>
                <a:ea typeface="+mn-lt"/>
                <a:cs typeface="+mn-lt"/>
              </a:rPr>
              <a:t>đích</a:t>
            </a:r>
            <a:r>
              <a:rPr lang="en-US" b="1" dirty="0">
                <a:latin typeface="Calibri"/>
                <a:ea typeface="+mn-lt"/>
                <a:cs typeface="+mn-lt"/>
              </a:rPr>
              <a:t>: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Xây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dựng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hệ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thống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quản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lý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trực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tuyến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chính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xác</a:t>
            </a:r>
            <a:r>
              <a:rPr lang="en-US" dirty="0"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latin typeface="Calibri"/>
                <a:ea typeface="+mn-lt"/>
                <a:cs typeface="+mn-lt"/>
              </a:rPr>
              <a:t>đơn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giản</a:t>
            </a:r>
            <a:r>
              <a:rPr lang="en-US" dirty="0">
                <a:latin typeface="Calibri"/>
                <a:ea typeface="+mn-lt"/>
                <a:cs typeface="+mn-lt"/>
              </a:rPr>
              <a:t>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b="1" dirty="0" err="1">
                <a:latin typeface="Calibri"/>
                <a:ea typeface="+mn-lt"/>
                <a:cs typeface="+mn-lt"/>
              </a:rPr>
              <a:t>Giải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dirty="0" err="1">
                <a:latin typeface="Calibri"/>
                <a:ea typeface="+mn-lt"/>
                <a:cs typeface="+mn-lt"/>
              </a:rPr>
              <a:t>pháp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dirty="0" err="1">
                <a:latin typeface="Calibri"/>
                <a:ea typeface="+mn-lt"/>
                <a:cs typeface="+mn-lt"/>
              </a:rPr>
              <a:t>công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dirty="0" err="1">
                <a:latin typeface="Calibri"/>
                <a:ea typeface="+mn-lt"/>
                <a:cs typeface="+mn-lt"/>
              </a:rPr>
              <a:t>nghệ</a:t>
            </a:r>
            <a:r>
              <a:rPr lang="en-US" b="1" dirty="0">
                <a:latin typeface="Calibri"/>
                <a:ea typeface="+mn-lt"/>
                <a:cs typeface="+mn-lt"/>
              </a:rPr>
              <a:t>:</a:t>
            </a:r>
            <a:endParaRPr lang="en-US">
              <a:latin typeface="Calibri"/>
              <a:ea typeface="+mn-lt"/>
              <a:cs typeface="+mn-lt"/>
            </a:endParaRPr>
          </a:p>
          <a:p>
            <a:pPr marL="1028700" lvl="1" indent="-342900">
              <a:buFont typeface="Calibri" panose="020B0604020202020204" pitchFamily="34" charset="0"/>
              <a:buChar char="-"/>
            </a:pPr>
            <a:r>
              <a:rPr lang="en-US" sz="2800" dirty="0" err="1">
                <a:latin typeface="Calibri"/>
                <a:ea typeface="+mn-lt"/>
                <a:cs typeface="+mn-lt"/>
              </a:rPr>
              <a:t>Xây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dựng</a:t>
            </a:r>
            <a:r>
              <a:rPr lang="en-US" sz="2800" dirty="0">
                <a:latin typeface="Calibri"/>
                <a:ea typeface="+mn-lt"/>
                <a:cs typeface="+mn-lt"/>
              </a:rPr>
              <a:t> Website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theo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kiến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trúc</a:t>
            </a:r>
            <a:r>
              <a:rPr lang="en-US" sz="2800" dirty="0">
                <a:latin typeface="Calibri"/>
                <a:ea typeface="+mn-lt"/>
                <a:cs typeface="+mn-lt"/>
              </a:rPr>
              <a:t> Client-Server.</a:t>
            </a:r>
          </a:p>
          <a:p>
            <a:pPr marL="971550" lvl="1" indent="-285750">
              <a:buFont typeface="Calibri"/>
              <a:buChar char="-"/>
            </a:pPr>
            <a:r>
              <a:rPr lang="en-US" sz="2800" dirty="0" err="1">
                <a:latin typeface="Calibri"/>
                <a:ea typeface="+mn-lt"/>
                <a:cs typeface="+mn-lt"/>
              </a:rPr>
              <a:t>Tự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độnghóa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quy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trình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nhập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điểm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và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tra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cứu</a:t>
            </a:r>
            <a:r>
              <a:rPr lang="en-US" sz="2800" dirty="0">
                <a:latin typeface="Calibri"/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r>
              <a:rPr lang="en-US" b="1" dirty="0" err="1">
                <a:latin typeface="Calibri"/>
                <a:ea typeface="+mn-lt"/>
                <a:cs typeface="+mn-lt"/>
              </a:rPr>
              <a:t>Đối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dirty="0" err="1">
                <a:latin typeface="Calibri"/>
                <a:ea typeface="+mn-lt"/>
                <a:cs typeface="+mn-lt"/>
              </a:rPr>
              <a:t>tượng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dirty="0" err="1">
                <a:latin typeface="Calibri"/>
                <a:ea typeface="+mn-lt"/>
                <a:cs typeface="+mn-lt"/>
              </a:rPr>
              <a:t>phục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dirty="0" err="1">
                <a:latin typeface="Calibri"/>
                <a:ea typeface="+mn-lt"/>
                <a:cs typeface="+mn-lt"/>
              </a:rPr>
              <a:t>vụ</a:t>
            </a:r>
            <a:r>
              <a:rPr lang="en-US" b="1" dirty="0">
                <a:latin typeface="Calibri"/>
                <a:ea typeface="+mn-lt"/>
                <a:cs typeface="+mn-lt"/>
              </a:rPr>
              <a:t>:</a:t>
            </a:r>
            <a:r>
              <a:rPr lang="en-US" dirty="0">
                <a:latin typeface="Calibri"/>
                <a:ea typeface="+mn-lt"/>
                <a:cs typeface="+mn-lt"/>
              </a:rPr>
              <a:t> Trung </a:t>
            </a:r>
            <a:r>
              <a:rPr lang="en-US" dirty="0" err="1">
                <a:latin typeface="Calibri"/>
                <a:ea typeface="+mn-lt"/>
                <a:cs typeface="+mn-lt"/>
              </a:rPr>
              <a:t>tâm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Ngoại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ngữ</a:t>
            </a:r>
            <a:r>
              <a:rPr lang="en-US" dirty="0">
                <a:latin typeface="Calibri"/>
                <a:ea typeface="+mn-lt"/>
                <a:cs typeface="+mn-lt"/>
              </a:rPr>
              <a:t> – Tin </a:t>
            </a:r>
            <a:r>
              <a:rPr lang="en-US" dirty="0" err="1">
                <a:latin typeface="Calibri"/>
                <a:ea typeface="+mn-lt"/>
                <a:cs typeface="+mn-lt"/>
              </a:rPr>
              <a:t>học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quy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mô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vừa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và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nhỏ</a:t>
            </a:r>
            <a:r>
              <a:rPr lang="en-US" dirty="0">
                <a:latin typeface="Calibri"/>
                <a:ea typeface="+mn-lt"/>
                <a:cs typeface="+mn-lt"/>
              </a:rPr>
              <a:t>.</a:t>
            </a:r>
          </a:p>
          <a:p>
            <a:endParaRPr lang="en-US" sz="2200">
              <a:latin typeface="Aptos" panose="020B0004020202020204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63263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D3C00F-DEDC-BD5E-4FB9-783460377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3132C8E-58B6-9EE5-D31E-4705B882C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3CE20D3-D2C9-0C97-A517-D630082F9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A4C17-A64B-F8B5-083F-DA425466D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rgbClr val="FFFFFF"/>
                </a:solidFill>
                <a:latin typeface="Calibri"/>
                <a:ea typeface="+mj-lt"/>
                <a:cs typeface="+mj-lt"/>
              </a:rPr>
              <a:t>TỔNG QUAN ĐỀ TÀI</a:t>
            </a:r>
            <a:endParaRPr lang="en-US" sz="3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3173F-E347-E12A-0AF4-07EEFAF7C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 dirty="0">
                <a:latin typeface="Calibri"/>
                <a:ea typeface="Calibri"/>
                <a:cs typeface="Calibri"/>
              </a:rPr>
              <a:t>Phạm vi </a:t>
            </a:r>
            <a:r>
              <a:rPr lang="en-US" b="1" dirty="0" err="1">
                <a:latin typeface="Calibri"/>
                <a:ea typeface="Calibri"/>
                <a:cs typeface="Calibri"/>
              </a:rPr>
              <a:t>nghiên</a:t>
            </a:r>
            <a:r>
              <a:rPr lang="en-US" b="1" dirty="0">
                <a:latin typeface="Calibri"/>
                <a:ea typeface="Calibri"/>
                <a:cs typeface="Calibri"/>
              </a:rPr>
              <a:t> </a:t>
            </a:r>
            <a:r>
              <a:rPr lang="en-US" b="1" dirty="0" err="1">
                <a:latin typeface="Calibri"/>
                <a:ea typeface="Calibri"/>
                <a:cs typeface="Calibri"/>
              </a:rPr>
              <a:t>cứu</a:t>
            </a:r>
            <a:endParaRPr lang="en-US" b="1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b="1" dirty="0">
                <a:latin typeface="Calibri"/>
                <a:ea typeface="+mn-lt"/>
                <a:cs typeface="+mn-lt"/>
              </a:rPr>
              <a:t>Các </a:t>
            </a:r>
            <a:r>
              <a:rPr lang="en-US" b="1" dirty="0" err="1">
                <a:latin typeface="Calibri"/>
                <a:ea typeface="+mn-lt"/>
                <a:cs typeface="+mn-lt"/>
              </a:rPr>
              <a:t>vai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dirty="0" err="1">
                <a:latin typeface="Calibri"/>
                <a:ea typeface="+mn-lt"/>
                <a:cs typeface="+mn-lt"/>
              </a:rPr>
              <a:t>trò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dirty="0" err="1">
                <a:latin typeface="Calibri"/>
                <a:ea typeface="+mn-lt"/>
                <a:cs typeface="+mn-lt"/>
              </a:rPr>
              <a:t>người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dirty="0" err="1">
                <a:latin typeface="Calibri"/>
                <a:ea typeface="+mn-lt"/>
                <a:cs typeface="+mn-lt"/>
              </a:rPr>
              <a:t>dùng</a:t>
            </a:r>
            <a:r>
              <a:rPr lang="en-US" b="1" dirty="0">
                <a:latin typeface="Calibri"/>
                <a:ea typeface="+mn-lt"/>
                <a:cs typeface="+mn-lt"/>
              </a:rPr>
              <a:t>:</a:t>
            </a:r>
            <a:endParaRPr lang="en-US">
              <a:latin typeface="Calibri"/>
              <a:ea typeface="Calibri"/>
              <a:cs typeface="Calibri"/>
            </a:endParaRPr>
          </a:p>
          <a:p>
            <a:pPr marL="1028700" lvl="1" indent="-342900">
              <a:buFont typeface="Calibri" panose="020B0604020202020204" pitchFamily="34" charset="0"/>
              <a:buChar char="-"/>
            </a:pPr>
            <a:r>
              <a:rPr lang="en-US" sz="2800" dirty="0">
                <a:latin typeface="Calibri"/>
                <a:ea typeface="+mn-lt"/>
                <a:cs typeface="+mn-lt"/>
              </a:rPr>
              <a:t>Admin: Quản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trị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hệ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thống</a:t>
            </a:r>
            <a:r>
              <a:rPr lang="en-US" sz="2800" dirty="0">
                <a:latin typeface="Calibri"/>
                <a:ea typeface="+mn-lt"/>
                <a:cs typeface="+mn-lt"/>
              </a:rPr>
              <a:t>,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người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dùng</a:t>
            </a:r>
            <a:r>
              <a:rPr lang="en-US" sz="2800" dirty="0">
                <a:latin typeface="Calibri"/>
                <a:ea typeface="+mn-lt"/>
                <a:cs typeface="+mn-lt"/>
              </a:rPr>
              <a:t>,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kỳ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thi</a:t>
            </a:r>
            <a:r>
              <a:rPr lang="en-US" sz="2800" dirty="0">
                <a:latin typeface="Calibri"/>
                <a:ea typeface="+mn-lt"/>
                <a:cs typeface="+mn-lt"/>
              </a:rPr>
              <a:t>.</a:t>
            </a:r>
          </a:p>
          <a:p>
            <a:pPr marL="971550" lvl="1" indent="-285750">
              <a:buFont typeface="Calibri"/>
              <a:buChar char="-"/>
            </a:pPr>
            <a:r>
              <a:rPr lang="en-US" sz="2800" dirty="0" err="1">
                <a:latin typeface="Calibri"/>
                <a:ea typeface="+mn-lt"/>
                <a:cs typeface="+mn-lt"/>
              </a:rPr>
              <a:t>Giáo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viên</a:t>
            </a:r>
            <a:r>
              <a:rPr lang="en-US" sz="2800" dirty="0">
                <a:latin typeface="Calibri"/>
                <a:ea typeface="+mn-lt"/>
                <a:cs typeface="+mn-lt"/>
              </a:rPr>
              <a:t>: Quản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lý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lớp</a:t>
            </a:r>
            <a:r>
              <a:rPr lang="en-US" sz="2800" dirty="0">
                <a:latin typeface="Calibri"/>
                <a:ea typeface="+mn-lt"/>
                <a:cs typeface="+mn-lt"/>
              </a:rPr>
              <a:t>,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nhập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điểm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thi</a:t>
            </a:r>
            <a:r>
              <a:rPr lang="en-US" sz="2800" dirty="0">
                <a:latin typeface="Calibri"/>
                <a:ea typeface="+mn-lt"/>
                <a:cs typeface="+mn-lt"/>
              </a:rPr>
              <a:t>.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 marL="971550" lvl="1" indent="-285750">
              <a:buFont typeface="Calibri"/>
              <a:buChar char="-"/>
            </a:pPr>
            <a:r>
              <a:rPr lang="en-US" sz="2800" dirty="0">
                <a:latin typeface="Calibri"/>
                <a:ea typeface="+mn-lt"/>
                <a:cs typeface="+mn-lt"/>
              </a:rPr>
              <a:t>Học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viên</a:t>
            </a:r>
            <a:r>
              <a:rPr lang="en-US" sz="2800" dirty="0">
                <a:latin typeface="Calibri"/>
                <a:ea typeface="+mn-lt"/>
                <a:cs typeface="+mn-lt"/>
              </a:rPr>
              <a:t>: Tra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cứu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điểm</a:t>
            </a:r>
            <a:r>
              <a:rPr lang="en-US" sz="2800" dirty="0">
                <a:latin typeface="Calibri"/>
                <a:ea typeface="+mn-lt"/>
                <a:cs typeface="+mn-lt"/>
              </a:rPr>
              <a:t>,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xem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lịch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sử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thi</a:t>
            </a:r>
            <a:r>
              <a:rPr lang="en-US" sz="2800" dirty="0">
                <a:latin typeface="Calibri"/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r>
              <a:rPr lang="en-US" b="1" dirty="0" err="1">
                <a:latin typeface="Calibri"/>
                <a:ea typeface="+mn-lt"/>
                <a:cs typeface="+mn-lt"/>
              </a:rPr>
              <a:t>Chức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dirty="0" err="1">
                <a:latin typeface="Calibri"/>
                <a:ea typeface="+mn-lt"/>
                <a:cs typeface="+mn-lt"/>
              </a:rPr>
              <a:t>năng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dirty="0" err="1">
                <a:latin typeface="Calibri"/>
                <a:ea typeface="+mn-lt"/>
                <a:cs typeface="+mn-lt"/>
              </a:rPr>
              <a:t>chính</a:t>
            </a:r>
            <a:r>
              <a:rPr lang="en-US" b="1" dirty="0">
                <a:latin typeface="Calibri"/>
                <a:ea typeface="+mn-lt"/>
                <a:cs typeface="+mn-lt"/>
              </a:rPr>
              <a:t>:</a:t>
            </a:r>
            <a:r>
              <a:rPr lang="en-US" dirty="0">
                <a:latin typeface="Calibri"/>
                <a:ea typeface="+mn-lt"/>
                <a:cs typeface="+mn-lt"/>
              </a:rPr>
              <a:t> Quản </a:t>
            </a:r>
            <a:r>
              <a:rPr lang="en-US" dirty="0" err="1">
                <a:latin typeface="Calibri"/>
                <a:ea typeface="+mn-lt"/>
                <a:cs typeface="+mn-lt"/>
              </a:rPr>
              <a:t>lý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môn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thi</a:t>
            </a:r>
            <a:r>
              <a:rPr lang="en-US" dirty="0"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latin typeface="Calibri"/>
                <a:ea typeface="+mn-lt"/>
                <a:cs typeface="+mn-lt"/>
              </a:rPr>
              <a:t>kỳ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thi</a:t>
            </a:r>
            <a:r>
              <a:rPr lang="en-US" dirty="0">
                <a:latin typeface="Calibri"/>
                <a:ea typeface="+mn-lt"/>
                <a:cs typeface="+mn-lt"/>
              </a:rPr>
              <a:t>,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nhập</a:t>
            </a:r>
            <a:r>
              <a:rPr 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điểm</a:t>
            </a:r>
            <a:r>
              <a:rPr lang="en-US" dirty="0"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latin typeface="Calibri"/>
                <a:ea typeface="+mn-lt"/>
                <a:cs typeface="+mn-lt"/>
              </a:rPr>
              <a:t>thống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kê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báo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cáo</a:t>
            </a:r>
            <a:r>
              <a:rPr lang="en-US" sz="2800" dirty="0">
                <a:latin typeface="Calibri"/>
                <a:ea typeface="+mn-lt"/>
                <a:cs typeface="+mn-lt"/>
              </a:rPr>
              <a:t>.</a:t>
            </a:r>
            <a:endParaRPr lang="en-US" dirty="0">
              <a:latin typeface="Calibri"/>
              <a:ea typeface="+mn-lt"/>
              <a:cs typeface="+mn-lt"/>
            </a:endParaRPr>
          </a:p>
          <a:p>
            <a:pPr>
              <a:buNone/>
            </a:pPr>
            <a:endParaRPr lang="en-US" b="1" dirty="0">
              <a:latin typeface="Calibri"/>
              <a:ea typeface="Calibri"/>
              <a:cs typeface="Calibri"/>
            </a:endParaRPr>
          </a:p>
          <a:p>
            <a:endParaRPr lang="en-US" sz="2200">
              <a:latin typeface="Aptos" panose="020B0004020202020204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02447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45BC6B-4EAE-B7D2-8760-FE54D8D95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2447" y="1396686"/>
            <a:ext cx="3513461" cy="4064628"/>
          </a:xfrm>
        </p:spPr>
        <p:txBody>
          <a:bodyPr>
            <a:normAutofit/>
          </a:bodyPr>
          <a:lstStyle/>
          <a:p>
            <a:pPr algn="ctr"/>
            <a:r>
              <a:rPr lang="en-US" sz="2800">
                <a:solidFill>
                  <a:srgbClr val="FFFFFF"/>
                </a:solidFill>
                <a:latin typeface="Calibri"/>
                <a:ea typeface="+mj-lt"/>
                <a:cs typeface="+mj-lt"/>
              </a:rPr>
              <a:t>CÔNG NGHỆ SỬ </a:t>
            </a:r>
            <a:r>
              <a:rPr lang="en-US" sz="2800" dirty="0">
                <a:solidFill>
                  <a:srgbClr val="FFFFFF"/>
                </a:solidFill>
                <a:latin typeface="Calibri"/>
                <a:ea typeface="+mj-lt"/>
                <a:cs typeface="+mj-lt"/>
              </a:rPr>
              <a:t>DỤNG</a:t>
            </a:r>
            <a:endParaRPr lang="en-US" sz="280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5C648-D495-D11A-ACEC-7B9B5D50D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b="1" dirty="0" err="1"/>
              <a:t>Kiến</a:t>
            </a:r>
            <a:r>
              <a:rPr lang="en-US" b="1" dirty="0"/>
              <a:t> </a:t>
            </a:r>
            <a:r>
              <a:rPr lang="en-US" b="1" dirty="0" err="1"/>
              <a:t>trúc</a:t>
            </a:r>
            <a:r>
              <a:rPr lang="en-US" b="1" dirty="0"/>
              <a:t> </a:t>
            </a:r>
            <a:r>
              <a:rPr lang="en-US" b="1" dirty="0" err="1"/>
              <a:t>hệ</a:t>
            </a:r>
            <a:r>
              <a:rPr lang="en-US" b="1" dirty="0"/>
              <a:t> </a:t>
            </a:r>
            <a:r>
              <a:rPr lang="en-US" b="1" dirty="0" err="1"/>
              <a:t>thống</a:t>
            </a:r>
            <a:endParaRPr lang="en-US"/>
          </a:p>
          <a:p>
            <a:pPr>
              <a:buFont typeface="Calibri" panose="020B0604020202020204" pitchFamily="34" charset="0"/>
              <a:buChar char="-"/>
            </a:pPr>
            <a:r>
              <a:rPr lang="en-US" dirty="0" err="1">
                <a:ea typeface="+mn-lt"/>
                <a:cs typeface="+mn-lt"/>
              </a:rPr>
              <a:t>Mô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hình</a:t>
            </a:r>
            <a:r>
              <a:rPr lang="en-US" dirty="0">
                <a:ea typeface="+mn-lt"/>
                <a:cs typeface="+mn-lt"/>
              </a:rPr>
              <a:t>: Client - Server 3 </a:t>
            </a:r>
            <a:r>
              <a:rPr lang="en-US" dirty="0" err="1">
                <a:ea typeface="+mn-lt"/>
                <a:cs typeface="+mn-lt"/>
              </a:rPr>
              <a:t>lớp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Trình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bày</a:t>
            </a:r>
            <a:r>
              <a:rPr lang="en-US" dirty="0">
                <a:ea typeface="+mn-lt"/>
                <a:cs typeface="+mn-lt"/>
              </a:rPr>
              <a:t> - Logic - </a:t>
            </a:r>
            <a:r>
              <a:rPr lang="en-US" dirty="0" err="1">
                <a:ea typeface="+mn-lt"/>
                <a:cs typeface="+mn-lt"/>
              </a:rPr>
              <a:t>Dữ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liệu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 dirty="0"/>
          </a:p>
          <a:p>
            <a:pPr>
              <a:buFont typeface="Calibri" panose="020B0604020202020204" pitchFamily="34" charset="0"/>
              <a:buChar char="-"/>
            </a:pPr>
            <a:r>
              <a:rPr lang="en-US" dirty="0">
                <a:ea typeface="+mn-lt"/>
                <a:cs typeface="+mn-lt"/>
              </a:rPr>
              <a:t>Giao </a:t>
            </a:r>
            <a:r>
              <a:rPr lang="en-US" dirty="0" err="1">
                <a:ea typeface="+mn-lt"/>
                <a:cs typeface="+mn-lt"/>
              </a:rPr>
              <a:t>thức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dirty="0" err="1">
                <a:ea typeface="+mn-lt"/>
                <a:cs typeface="+mn-lt"/>
              </a:rPr>
              <a:t>Sử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dụng</a:t>
            </a:r>
            <a:r>
              <a:rPr lang="en-US" dirty="0">
                <a:ea typeface="+mn-lt"/>
                <a:cs typeface="+mn-lt"/>
              </a:rPr>
              <a:t> RESTful API </a:t>
            </a:r>
            <a:r>
              <a:rPr lang="en-US" dirty="0" err="1">
                <a:ea typeface="+mn-lt"/>
                <a:cs typeface="+mn-lt"/>
              </a:rPr>
              <a:t>để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giao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tiếp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dữ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liệu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>
              <a:buFont typeface="Calibri" panose="020B0604020202020204" pitchFamily="34" charset="0"/>
              <a:buChar char="-"/>
            </a:pPr>
            <a:r>
              <a:rPr lang="en-US" dirty="0">
                <a:ea typeface="+mn-lt"/>
                <a:cs typeface="+mn-lt"/>
              </a:rPr>
              <a:t>Authentication: </a:t>
            </a:r>
            <a:r>
              <a:rPr lang="en-US" dirty="0" err="1">
                <a:ea typeface="+mn-lt"/>
                <a:cs typeface="+mn-lt"/>
              </a:rPr>
              <a:t>Xác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thực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người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dùng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thông</a:t>
            </a:r>
            <a:r>
              <a:rPr lang="en-US" dirty="0">
                <a:ea typeface="+mn-lt"/>
                <a:cs typeface="+mn-lt"/>
              </a:rPr>
              <a:t> qua JSON Web Token (JWT).</a:t>
            </a:r>
            <a:endParaRPr lang="en-US" dirty="0"/>
          </a:p>
          <a:p>
            <a:pPr>
              <a:buFont typeface="Calibri" panose="020B0604020202020204" pitchFamily="34" charset="0"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340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E9DF30-2D3A-D05F-AA94-CAFDA6BCA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>
                <a:latin typeface="Calibri"/>
                <a:ea typeface="Calibri"/>
                <a:cs typeface="Calibri"/>
              </a:rPr>
              <a:t>CÔNG NGHỆ SỬ DỤNG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567C3-9A6F-7392-C1DD-B9B2E9450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Calibri"/>
                <a:ea typeface="Calibri"/>
                <a:cs typeface="Calibri"/>
              </a:rPr>
              <a:t>Công </a:t>
            </a:r>
            <a:r>
              <a:rPr lang="en-US" b="1" dirty="0" err="1">
                <a:latin typeface="Calibri"/>
                <a:ea typeface="Calibri"/>
                <a:cs typeface="Calibri"/>
              </a:rPr>
              <a:t>nghệ</a:t>
            </a:r>
            <a:r>
              <a:rPr lang="en-US" b="1" dirty="0">
                <a:latin typeface="Calibri"/>
                <a:ea typeface="Calibri"/>
                <a:cs typeface="Calibri"/>
              </a:rPr>
              <a:t> Frontend</a:t>
            </a:r>
            <a:endParaRPr lang="en-US" b="1"/>
          </a:p>
          <a:p>
            <a:r>
              <a:rPr lang="en-US" dirty="0">
                <a:latin typeface="Calibri"/>
                <a:ea typeface="+mn-lt"/>
                <a:cs typeface="+mn-lt"/>
              </a:rPr>
              <a:t>Framework </a:t>
            </a:r>
            <a:r>
              <a:rPr lang="en-US" dirty="0" err="1">
                <a:latin typeface="Calibri"/>
                <a:ea typeface="+mn-lt"/>
                <a:cs typeface="+mn-lt"/>
              </a:rPr>
              <a:t>chính</a:t>
            </a:r>
            <a:r>
              <a:rPr lang="en-US" dirty="0">
                <a:latin typeface="Calibri"/>
                <a:ea typeface="+mn-lt"/>
                <a:cs typeface="+mn-lt"/>
              </a:rPr>
              <a:t>: Next.js 16  </a:t>
            </a:r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 dirty="0" err="1">
                <a:latin typeface="Calibri"/>
                <a:ea typeface="+mn-lt"/>
                <a:cs typeface="+mn-lt"/>
              </a:rPr>
              <a:t>Ngôn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ngữ</a:t>
            </a:r>
            <a:r>
              <a:rPr lang="en-US" dirty="0">
                <a:latin typeface="Calibri"/>
                <a:ea typeface="+mn-lt"/>
                <a:cs typeface="+mn-lt"/>
              </a:rPr>
              <a:t>: TypeScript</a:t>
            </a:r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 dirty="0">
                <a:latin typeface="Calibri"/>
                <a:ea typeface="+mn-lt"/>
                <a:cs typeface="+mn-lt"/>
              </a:rPr>
              <a:t>Giao </a:t>
            </a:r>
            <a:r>
              <a:rPr lang="en-US" dirty="0" err="1">
                <a:latin typeface="Calibri"/>
                <a:ea typeface="+mn-lt"/>
                <a:cs typeface="+mn-lt"/>
              </a:rPr>
              <a:t>diện</a:t>
            </a:r>
            <a:r>
              <a:rPr lang="en-US" dirty="0">
                <a:latin typeface="Calibri"/>
                <a:ea typeface="+mn-lt"/>
                <a:cs typeface="+mn-lt"/>
              </a:rPr>
              <a:t>: Tailwind CSS v4</a:t>
            </a:r>
            <a:endParaRPr lang="en-US">
              <a:latin typeface="Calibri"/>
              <a:ea typeface="Calibri"/>
              <a:cs typeface="Calibri"/>
            </a:endParaRPr>
          </a:p>
          <a:p>
            <a:endParaRPr lang="en-US" sz="2000">
              <a:latin typeface="Calibri"/>
              <a:ea typeface="Calibri"/>
              <a:cs typeface="Calibri"/>
            </a:endParaRPr>
          </a:p>
        </p:txBody>
      </p:sp>
      <p:pic>
        <p:nvPicPr>
          <p:cNvPr id="4" name="Picture 3" descr="Next.js Testing - testRigor AI-Based Automated Testing Tool">
            <a:extLst>
              <a:ext uri="{FF2B5EF4-FFF2-40B4-BE49-F238E27FC236}">
                <a16:creationId xmlns:a16="http://schemas.microsoft.com/office/drawing/2014/main" id="{698D7D51-CA08-86C1-6426-89868119D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616929"/>
            <a:ext cx="5150277" cy="144889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606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28E0AF-C79C-A713-FC0C-7037B9097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3E28DB7-D16E-5A7C-377C-FE587494A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806C3-21C7-C197-4612-8FF76A429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>
                <a:latin typeface="Calibri"/>
                <a:ea typeface="Calibri"/>
                <a:cs typeface="Calibri"/>
              </a:rPr>
              <a:t>CÔNG NGHỆ SỬ DỤNG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6845F2-D7DB-2A35-8D6E-2EFC99155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D918E9-D67E-15F0-136C-9927A71CA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B37D2-5DD0-F03B-38A3-4E4BF8C60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363981"/>
            <a:ext cx="6179588" cy="3874978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buNone/>
            </a:pPr>
            <a:r>
              <a:rPr lang="en-US" b="1" dirty="0">
                <a:latin typeface="Calibri"/>
                <a:ea typeface="Calibri"/>
                <a:cs typeface="Calibri"/>
              </a:rPr>
              <a:t>Công </a:t>
            </a:r>
            <a:r>
              <a:rPr lang="en-US" b="1" dirty="0" err="1">
                <a:latin typeface="Calibri"/>
                <a:ea typeface="Calibri"/>
                <a:cs typeface="Calibri"/>
              </a:rPr>
              <a:t>nghệ</a:t>
            </a:r>
            <a:r>
              <a:rPr lang="en-US" b="1" dirty="0">
                <a:latin typeface="Calibri"/>
                <a:ea typeface="Calibri"/>
                <a:cs typeface="Calibri"/>
              </a:rPr>
              <a:t> Backend &amp; Database</a:t>
            </a:r>
          </a:p>
          <a:p>
            <a:pPr>
              <a:buFont typeface="Arial"/>
            </a:pPr>
            <a:r>
              <a:rPr lang="en-US" dirty="0">
                <a:latin typeface="Calibri"/>
                <a:ea typeface="+mn-lt"/>
                <a:cs typeface="+mn-lt"/>
              </a:rPr>
              <a:t>Backend: Node.js + Express.js - </a:t>
            </a:r>
            <a:r>
              <a:rPr lang="en-US" dirty="0" err="1">
                <a:latin typeface="Calibri"/>
                <a:ea typeface="+mn-lt"/>
                <a:cs typeface="+mn-lt"/>
              </a:rPr>
              <a:t>Xây</a:t>
            </a:r>
            <a:r>
              <a:rPr lang="en-US" dirty="0">
                <a:latin typeface="Calibri"/>
                <a:ea typeface="+mn-lt"/>
                <a:cs typeface="+mn-lt"/>
              </a:rPr>
              <a:t> </a:t>
            </a:r>
            <a:r>
              <a:rPr lang="en-US" dirty="0" err="1">
                <a:latin typeface="Calibri"/>
                <a:ea typeface="+mn-lt"/>
                <a:cs typeface="+mn-lt"/>
              </a:rPr>
              <a:t>dựng</a:t>
            </a:r>
            <a:r>
              <a:rPr lang="en-US" dirty="0">
                <a:latin typeface="Calibri"/>
                <a:ea typeface="+mn-lt"/>
                <a:cs typeface="+mn-lt"/>
              </a:rPr>
              <a:t> API </a:t>
            </a:r>
            <a:endParaRPr lang="en-US" dirty="0">
              <a:latin typeface="Aptos"/>
              <a:ea typeface="Calibri"/>
              <a:cs typeface="Calibri"/>
            </a:endParaRPr>
          </a:p>
          <a:p>
            <a:pPr>
              <a:buFont typeface="Arial"/>
            </a:pPr>
            <a:r>
              <a:rPr lang="en-US" dirty="0" err="1">
                <a:latin typeface="Calibri"/>
                <a:ea typeface="+mn-lt"/>
                <a:cs typeface="+mn-lt"/>
              </a:rPr>
              <a:t>Cơ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sở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dữ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liệu</a:t>
            </a:r>
            <a:r>
              <a:rPr lang="en-US" dirty="0">
                <a:latin typeface="Calibri"/>
                <a:ea typeface="+mn-lt"/>
                <a:cs typeface="+mn-lt"/>
              </a:rPr>
              <a:t>: MongoDB Atlas (Cloud Database) - Lưu </a:t>
            </a:r>
            <a:r>
              <a:rPr lang="en-US" dirty="0" err="1">
                <a:latin typeface="Calibri"/>
                <a:ea typeface="+mn-lt"/>
                <a:cs typeface="+mn-lt"/>
              </a:rPr>
              <a:t>trữ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linh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hoạt</a:t>
            </a:r>
            <a:endParaRPr lang="en-US" dirty="0" err="1">
              <a:latin typeface="Calibri"/>
              <a:ea typeface="Calibri"/>
              <a:cs typeface="Calibri"/>
            </a:endParaRPr>
          </a:p>
          <a:p>
            <a:pPr>
              <a:buFont typeface="Arial"/>
            </a:pPr>
            <a:r>
              <a:rPr lang="en-US" dirty="0">
                <a:latin typeface="Calibri"/>
                <a:ea typeface="+mn-lt"/>
                <a:cs typeface="+mn-lt"/>
              </a:rPr>
              <a:t>Thư </a:t>
            </a:r>
            <a:r>
              <a:rPr lang="en-US" dirty="0" err="1">
                <a:latin typeface="Calibri"/>
                <a:ea typeface="+mn-lt"/>
                <a:cs typeface="+mn-lt"/>
              </a:rPr>
              <a:t>viện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hỗ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trợ</a:t>
            </a:r>
            <a:r>
              <a:rPr lang="en-US" dirty="0">
                <a:latin typeface="Calibri"/>
                <a:ea typeface="+mn-lt"/>
                <a:cs typeface="+mn-lt"/>
              </a:rPr>
              <a:t>: Mongoose ODM, </a:t>
            </a:r>
            <a:r>
              <a:rPr lang="en-US" dirty="0" err="1">
                <a:latin typeface="Calibri"/>
                <a:ea typeface="+mn-lt"/>
                <a:cs typeface="+mn-lt"/>
              </a:rPr>
              <a:t>mã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hóa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2B05D7-CC2A-4FA9-6774-5CE31D1325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Node.js – Wikipedia tiếng Việt">
            <a:extLst>
              <a:ext uri="{FF2B5EF4-FFF2-40B4-BE49-F238E27FC236}">
                <a16:creationId xmlns:a16="http://schemas.microsoft.com/office/drawing/2014/main" id="{B884297E-1738-ED48-AC71-A4A153B81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1311" y="3264828"/>
            <a:ext cx="4029075" cy="2068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653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59E597-BE38-DA0C-4AAA-6F5557228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CBFACD5-6E22-3921-69A3-B05B6BBBB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BD8EC1-828C-F4A0-ADCA-0F3524DC7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>
                <a:latin typeface="Calibri"/>
                <a:ea typeface="Calibri"/>
                <a:cs typeface="Calibri"/>
              </a:rPr>
              <a:t>CÔNG NGHỆ SỬ DỤNG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152A2F-BB6D-845D-4CC5-48594BFFC5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4A1FFF-2CC3-0B72-81BC-567A02880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157C2-147E-349B-CA2F-3284DA5C5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363981"/>
            <a:ext cx="6179588" cy="3874978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buFont typeface="Arial"/>
              <a:buChar char="•"/>
            </a:pPr>
            <a:r>
              <a:rPr lang="en-US" b="1" dirty="0">
                <a:latin typeface="Calibri"/>
                <a:ea typeface="+mn-lt"/>
                <a:cs typeface="+mn-lt"/>
              </a:rPr>
              <a:t>Frontend: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Triển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khai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trên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Vercel</a:t>
            </a:r>
            <a:r>
              <a:rPr lang="en-US" dirty="0">
                <a:latin typeface="Calibri"/>
                <a:ea typeface="+mn-lt"/>
                <a:cs typeface="+mn-lt"/>
              </a:rPr>
              <a:t> - </a:t>
            </a:r>
            <a:r>
              <a:rPr lang="en-US" dirty="0" err="1">
                <a:latin typeface="Calibri"/>
                <a:ea typeface="+mn-lt"/>
                <a:cs typeface="+mn-lt"/>
              </a:rPr>
              <a:t>Tối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ưu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cho</a:t>
            </a:r>
            <a:r>
              <a:rPr lang="en-US" dirty="0">
                <a:latin typeface="Calibri"/>
                <a:ea typeface="+mn-lt"/>
                <a:cs typeface="+mn-lt"/>
              </a:rPr>
              <a:t> Next.js.</a:t>
            </a:r>
            <a:endParaRPr lang="en-US">
              <a:latin typeface="Calibri"/>
              <a:ea typeface="+mn-lt"/>
              <a:cs typeface="+mn-lt"/>
            </a:endParaRPr>
          </a:p>
          <a:p>
            <a:pPr>
              <a:buFont typeface="Arial"/>
            </a:pPr>
            <a:r>
              <a:rPr lang="en-US" b="1" dirty="0">
                <a:latin typeface="Calibri"/>
                <a:ea typeface="+mn-lt"/>
                <a:cs typeface="+mn-lt"/>
              </a:rPr>
              <a:t>Backend: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Triển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khai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trên</a:t>
            </a:r>
            <a:r>
              <a:rPr lang="en-US" dirty="0">
                <a:latin typeface="Calibri"/>
                <a:ea typeface="+mn-lt"/>
                <a:cs typeface="+mn-lt"/>
              </a:rPr>
              <a:t> Render - </a:t>
            </a:r>
            <a:r>
              <a:rPr lang="en-US" dirty="0" err="1">
                <a:latin typeface="Calibri"/>
                <a:ea typeface="+mn-lt"/>
                <a:cs typeface="+mn-lt"/>
              </a:rPr>
              <a:t>Ổn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định</a:t>
            </a:r>
            <a:r>
              <a:rPr lang="en-US" dirty="0"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latin typeface="Calibri"/>
                <a:ea typeface="+mn-lt"/>
                <a:cs typeface="+mn-lt"/>
              </a:rPr>
              <a:t>hỗ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trợ</a:t>
            </a:r>
            <a:r>
              <a:rPr lang="en-US" dirty="0">
                <a:latin typeface="Calibri"/>
                <a:ea typeface="+mn-lt"/>
                <a:cs typeface="+mn-lt"/>
              </a:rPr>
              <a:t> Node.js.</a:t>
            </a:r>
            <a:endParaRPr lang="en-US">
              <a:latin typeface="Calibri"/>
              <a:ea typeface="+mn-lt"/>
              <a:cs typeface="+mn-lt"/>
            </a:endParaRPr>
          </a:p>
          <a:p>
            <a:pPr>
              <a:buFont typeface="Arial"/>
            </a:pPr>
            <a:r>
              <a:rPr lang="en-US" b="1" dirty="0">
                <a:latin typeface="Calibri"/>
                <a:ea typeface="+mn-lt"/>
                <a:cs typeface="+mn-lt"/>
              </a:rPr>
              <a:t>Quản </a:t>
            </a:r>
            <a:r>
              <a:rPr lang="en-US" b="1" dirty="0" err="1">
                <a:latin typeface="Calibri"/>
                <a:ea typeface="+mn-lt"/>
                <a:cs typeface="+mn-lt"/>
              </a:rPr>
              <a:t>lý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dirty="0" err="1">
                <a:latin typeface="Calibri"/>
                <a:ea typeface="+mn-lt"/>
                <a:cs typeface="+mn-lt"/>
              </a:rPr>
              <a:t>mã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dirty="0" err="1">
                <a:latin typeface="Calibri"/>
                <a:ea typeface="+mn-lt"/>
                <a:cs typeface="+mn-lt"/>
              </a:rPr>
              <a:t>nguồn</a:t>
            </a:r>
            <a:r>
              <a:rPr lang="en-US" b="1" dirty="0">
                <a:latin typeface="Calibri"/>
                <a:ea typeface="+mn-lt"/>
                <a:cs typeface="+mn-lt"/>
              </a:rPr>
              <a:t>:</a:t>
            </a:r>
            <a:r>
              <a:rPr lang="en-US" dirty="0">
                <a:latin typeface="Calibri"/>
                <a:ea typeface="+mn-lt"/>
                <a:cs typeface="+mn-lt"/>
              </a:rPr>
              <a:t> GitHub.</a:t>
            </a:r>
            <a:endParaRPr lang="en-US">
              <a:latin typeface="Calibri"/>
              <a:ea typeface="+mn-lt"/>
              <a:cs typeface="+mn-lt"/>
            </a:endParaRPr>
          </a:p>
          <a:p>
            <a:pPr>
              <a:buFont typeface="Arial"/>
            </a:pPr>
            <a:r>
              <a:rPr lang="en-US" b="1" dirty="0" err="1">
                <a:latin typeface="Calibri"/>
                <a:ea typeface="+mn-lt"/>
                <a:cs typeface="+mn-lt"/>
              </a:rPr>
              <a:t>Địa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dirty="0" err="1">
                <a:latin typeface="Calibri"/>
                <a:ea typeface="+mn-lt"/>
                <a:cs typeface="+mn-lt"/>
              </a:rPr>
              <a:t>chỉ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dirty="0" err="1">
                <a:latin typeface="Calibri"/>
                <a:ea typeface="+mn-lt"/>
                <a:cs typeface="+mn-lt"/>
              </a:rPr>
              <a:t>vận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dirty="0" err="1">
                <a:latin typeface="Calibri"/>
                <a:ea typeface="+mn-lt"/>
                <a:cs typeface="+mn-lt"/>
              </a:rPr>
              <a:t>hành</a:t>
            </a:r>
            <a:r>
              <a:rPr lang="en-US" b="1" dirty="0">
                <a:latin typeface="Calibri"/>
                <a:ea typeface="+mn-lt"/>
                <a:cs typeface="+mn-lt"/>
              </a:rPr>
              <a:t>: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>
                <a:latin typeface="Calibri"/>
                <a:ea typeface="+mn-lt"/>
                <a:cs typeface="+mn-lt"/>
                <a:hlinkClick r:id="rId2"/>
              </a:rPr>
              <a:t>https://edu-score-five.vercel.app</a:t>
            </a:r>
            <a:r>
              <a:rPr lang="en-US" dirty="0">
                <a:latin typeface="Calibri"/>
                <a:ea typeface="+mn-lt"/>
                <a:cs typeface="+mn-lt"/>
              </a:rPr>
              <a:t>.</a:t>
            </a:r>
            <a:endParaRPr lang="en-US">
              <a:latin typeface="Calibri"/>
              <a:ea typeface="+mn-lt"/>
              <a:cs typeface="+mn-lt"/>
            </a:endParaRPr>
          </a:p>
          <a:p>
            <a:pPr>
              <a:buNone/>
            </a:pPr>
            <a:endParaRPr lang="en-US" sz="2400" b="1" dirty="0">
              <a:latin typeface="Calibri"/>
              <a:ea typeface="Calibri"/>
              <a:cs typeface="Calibri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91EC5B-1D62-3675-A936-FD8FA8EBEF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A17B77-8346-7F51-8F97-C6199741B3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316" y="2722353"/>
            <a:ext cx="2789027" cy="3167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025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A80777-A21C-4390-C5EE-A97DFC544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39518"/>
            <a:ext cx="5164720" cy="9901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>
                <a:latin typeface="Calibri"/>
                <a:ea typeface="+mj-lt"/>
                <a:cs typeface="+mj-lt"/>
              </a:rPr>
              <a:t>PHÂN TÍCH &amp; THIẾT KẾ HỆ THỐNG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599BD-0923-3357-143E-C4022049D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800" b="1" dirty="0" err="1">
                <a:latin typeface="Calibri"/>
                <a:ea typeface="Calibri"/>
                <a:cs typeface="Calibri"/>
              </a:rPr>
              <a:t>Yêu</a:t>
            </a:r>
            <a:r>
              <a:rPr lang="en-US" sz="1800" b="1" dirty="0">
                <a:latin typeface="Calibri"/>
                <a:ea typeface="Calibri"/>
                <a:cs typeface="Calibri"/>
              </a:rPr>
              <a:t> </a:t>
            </a:r>
            <a:r>
              <a:rPr lang="en-US" sz="1800" b="1" dirty="0" err="1">
                <a:latin typeface="Calibri"/>
                <a:ea typeface="Calibri"/>
                <a:cs typeface="Calibri"/>
              </a:rPr>
              <a:t>cầu</a:t>
            </a:r>
            <a:r>
              <a:rPr lang="en-US" sz="1800" b="1" dirty="0">
                <a:latin typeface="Calibri"/>
                <a:ea typeface="Calibri"/>
                <a:cs typeface="Calibri"/>
              </a:rPr>
              <a:t> </a:t>
            </a:r>
            <a:r>
              <a:rPr lang="en-US" sz="1800" b="1" dirty="0" err="1">
                <a:latin typeface="Calibri"/>
                <a:ea typeface="Calibri"/>
                <a:cs typeface="Calibri"/>
              </a:rPr>
              <a:t>hệ</a:t>
            </a:r>
            <a:r>
              <a:rPr lang="en-US" sz="1800" b="1" dirty="0">
                <a:latin typeface="Calibri"/>
                <a:ea typeface="Calibri"/>
                <a:cs typeface="Calibri"/>
              </a:rPr>
              <a:t> </a:t>
            </a:r>
            <a:r>
              <a:rPr lang="en-US" sz="1800" b="1" dirty="0" err="1">
                <a:latin typeface="Calibri"/>
                <a:ea typeface="Calibri"/>
                <a:cs typeface="Calibri"/>
              </a:rPr>
              <a:t>thống</a:t>
            </a:r>
            <a:endParaRPr lang="en-US" sz="1800" b="1" dirty="0">
              <a:latin typeface="Calibri"/>
              <a:ea typeface="Calibri"/>
              <a:cs typeface="Calibri"/>
            </a:endParaRPr>
          </a:p>
          <a:p>
            <a:r>
              <a:rPr lang="en-US" sz="1800" dirty="0" err="1">
                <a:latin typeface="Calibri"/>
                <a:ea typeface="+mn-lt"/>
                <a:cs typeface="+mn-lt"/>
              </a:rPr>
              <a:t>Chức</a:t>
            </a:r>
            <a:r>
              <a:rPr lang="en-US" sz="1800" dirty="0">
                <a:latin typeface="Calibri"/>
                <a:ea typeface="+mn-lt"/>
                <a:cs typeface="+mn-lt"/>
              </a:rPr>
              <a:t> </a:t>
            </a:r>
            <a:r>
              <a:rPr lang="en-US" sz="1800" dirty="0" err="1">
                <a:latin typeface="Calibri"/>
                <a:ea typeface="+mn-lt"/>
                <a:cs typeface="+mn-lt"/>
              </a:rPr>
              <a:t>năng</a:t>
            </a:r>
            <a:r>
              <a:rPr lang="en-US" sz="1800" dirty="0">
                <a:latin typeface="Calibri"/>
                <a:ea typeface="+mn-lt"/>
                <a:cs typeface="+mn-lt"/>
              </a:rPr>
              <a:t>: </a:t>
            </a:r>
            <a:r>
              <a:rPr lang="en-US" sz="1800" dirty="0" err="1">
                <a:latin typeface="Calibri"/>
                <a:ea typeface="+mn-lt"/>
                <a:cs typeface="+mn-lt"/>
              </a:rPr>
              <a:t>Đăng</a:t>
            </a:r>
            <a:r>
              <a:rPr lang="en-US" sz="1800" dirty="0">
                <a:latin typeface="Calibri"/>
                <a:ea typeface="+mn-lt"/>
                <a:cs typeface="+mn-lt"/>
              </a:rPr>
              <a:t> </a:t>
            </a:r>
            <a:r>
              <a:rPr lang="en-US" sz="1800" dirty="0" err="1">
                <a:latin typeface="Calibri"/>
                <a:ea typeface="+mn-lt"/>
                <a:cs typeface="+mn-lt"/>
              </a:rPr>
              <a:t>nhập</a:t>
            </a:r>
            <a:r>
              <a:rPr lang="en-US" sz="1800" dirty="0">
                <a:latin typeface="Calibri"/>
                <a:ea typeface="+mn-lt"/>
                <a:cs typeface="+mn-lt"/>
              </a:rPr>
              <a:t>/</a:t>
            </a:r>
            <a:r>
              <a:rPr lang="en-US" sz="1800" dirty="0" err="1">
                <a:latin typeface="Calibri"/>
                <a:ea typeface="+mn-lt"/>
                <a:cs typeface="+mn-lt"/>
              </a:rPr>
              <a:t>Đăng</a:t>
            </a:r>
            <a:r>
              <a:rPr lang="en-US" sz="1800" dirty="0">
                <a:latin typeface="Calibri"/>
                <a:ea typeface="+mn-lt"/>
                <a:cs typeface="+mn-lt"/>
              </a:rPr>
              <a:t> </a:t>
            </a:r>
            <a:r>
              <a:rPr lang="en-US" sz="1800" dirty="0" err="1">
                <a:latin typeface="Calibri"/>
                <a:ea typeface="+mn-lt"/>
                <a:cs typeface="+mn-lt"/>
              </a:rPr>
              <a:t>ký</a:t>
            </a:r>
            <a:r>
              <a:rPr lang="en-US" sz="1800" dirty="0">
                <a:latin typeface="Calibri"/>
                <a:ea typeface="+mn-lt"/>
                <a:cs typeface="+mn-lt"/>
              </a:rPr>
              <a:t>, Quản </a:t>
            </a:r>
            <a:r>
              <a:rPr lang="en-US" sz="1800" dirty="0" err="1">
                <a:latin typeface="Calibri"/>
                <a:ea typeface="+mn-lt"/>
                <a:cs typeface="+mn-lt"/>
              </a:rPr>
              <a:t>lý</a:t>
            </a:r>
            <a:r>
              <a:rPr lang="en-US" sz="1800" dirty="0">
                <a:latin typeface="Calibri"/>
                <a:ea typeface="+mn-lt"/>
                <a:cs typeface="+mn-lt"/>
              </a:rPr>
              <a:t> </a:t>
            </a:r>
            <a:r>
              <a:rPr lang="en-US" sz="1800" dirty="0" err="1">
                <a:latin typeface="Calibri"/>
                <a:ea typeface="+mn-lt"/>
                <a:cs typeface="+mn-lt"/>
              </a:rPr>
              <a:t>môn</a:t>
            </a:r>
            <a:r>
              <a:rPr lang="en-US" sz="1800" dirty="0">
                <a:latin typeface="Calibri"/>
                <a:ea typeface="+mn-lt"/>
                <a:cs typeface="+mn-lt"/>
              </a:rPr>
              <a:t>/</a:t>
            </a:r>
            <a:r>
              <a:rPr lang="en-US" sz="1800" dirty="0" err="1">
                <a:latin typeface="Calibri"/>
                <a:ea typeface="+mn-lt"/>
                <a:cs typeface="+mn-lt"/>
              </a:rPr>
              <a:t>kỳ</a:t>
            </a:r>
            <a:r>
              <a:rPr lang="en-US" sz="1800" dirty="0">
                <a:latin typeface="Calibri"/>
                <a:ea typeface="+mn-lt"/>
                <a:cs typeface="+mn-lt"/>
              </a:rPr>
              <a:t> </a:t>
            </a:r>
            <a:r>
              <a:rPr lang="en-US" sz="1800" dirty="0" err="1">
                <a:latin typeface="Calibri"/>
                <a:ea typeface="+mn-lt"/>
                <a:cs typeface="+mn-lt"/>
              </a:rPr>
              <a:t>thi</a:t>
            </a:r>
            <a:r>
              <a:rPr lang="en-US" sz="1800" dirty="0">
                <a:latin typeface="Calibri"/>
                <a:ea typeface="+mn-lt"/>
                <a:cs typeface="+mn-lt"/>
              </a:rPr>
              <a:t>, </a:t>
            </a:r>
            <a:r>
              <a:rPr lang="en-US" sz="1800" dirty="0" err="1">
                <a:latin typeface="Calibri"/>
                <a:ea typeface="+mn-lt"/>
                <a:cs typeface="+mn-lt"/>
              </a:rPr>
              <a:t>Nhập</a:t>
            </a:r>
            <a:r>
              <a:rPr lang="en-US" sz="1800" dirty="0">
                <a:latin typeface="Calibri"/>
                <a:ea typeface="+mn-lt"/>
                <a:cs typeface="+mn-lt"/>
              </a:rPr>
              <a:t> </a:t>
            </a:r>
            <a:r>
              <a:rPr lang="en-US" sz="1800" dirty="0" err="1">
                <a:latin typeface="Calibri"/>
                <a:ea typeface="+mn-lt"/>
                <a:cs typeface="+mn-lt"/>
              </a:rPr>
              <a:t>điểm</a:t>
            </a:r>
            <a:r>
              <a:rPr lang="en-US" sz="1800" dirty="0">
                <a:latin typeface="Calibri"/>
                <a:ea typeface="+mn-lt"/>
                <a:cs typeface="+mn-lt"/>
              </a:rPr>
              <a:t>, Tra </a:t>
            </a:r>
            <a:r>
              <a:rPr lang="en-US" sz="1800" dirty="0" err="1">
                <a:latin typeface="Calibri"/>
                <a:ea typeface="+mn-lt"/>
                <a:cs typeface="+mn-lt"/>
              </a:rPr>
              <a:t>cứu</a:t>
            </a:r>
            <a:r>
              <a:rPr lang="en-US" sz="1800" dirty="0">
                <a:latin typeface="Calibri"/>
                <a:ea typeface="+mn-lt"/>
                <a:cs typeface="+mn-lt"/>
              </a:rPr>
              <a:t>.</a:t>
            </a:r>
            <a:endParaRPr lang="en-US" sz="1800">
              <a:latin typeface="Calibri"/>
              <a:ea typeface="Calibri"/>
              <a:cs typeface="Calibri"/>
            </a:endParaRPr>
          </a:p>
          <a:p>
            <a:r>
              <a:rPr lang="en-US" sz="1800" dirty="0">
                <a:latin typeface="Calibri"/>
                <a:ea typeface="+mn-lt"/>
                <a:cs typeface="+mn-lt"/>
              </a:rPr>
              <a:t>Phi </a:t>
            </a:r>
            <a:r>
              <a:rPr lang="en-US" sz="1800" dirty="0" err="1">
                <a:latin typeface="Calibri"/>
                <a:ea typeface="+mn-lt"/>
                <a:cs typeface="+mn-lt"/>
              </a:rPr>
              <a:t>chức</a:t>
            </a:r>
            <a:r>
              <a:rPr lang="en-US" sz="1800" dirty="0">
                <a:latin typeface="Calibri"/>
                <a:ea typeface="+mn-lt"/>
                <a:cs typeface="+mn-lt"/>
              </a:rPr>
              <a:t> </a:t>
            </a:r>
            <a:r>
              <a:rPr lang="en-US" sz="1800" dirty="0" err="1">
                <a:latin typeface="Calibri"/>
                <a:ea typeface="+mn-lt"/>
                <a:cs typeface="+mn-lt"/>
              </a:rPr>
              <a:t>năng</a:t>
            </a:r>
            <a:r>
              <a:rPr lang="en-US" sz="1800" dirty="0">
                <a:latin typeface="Calibri"/>
                <a:ea typeface="+mn-lt"/>
                <a:cs typeface="+mn-lt"/>
              </a:rPr>
              <a:t>: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 lvl="1"/>
            <a:r>
              <a:rPr lang="en-US" sz="1800" dirty="0">
                <a:latin typeface="Calibri"/>
                <a:ea typeface="+mn-lt"/>
                <a:cs typeface="+mn-lt"/>
              </a:rPr>
              <a:t>Bảo </a:t>
            </a:r>
            <a:r>
              <a:rPr lang="en-US" sz="1800" dirty="0" err="1">
                <a:latin typeface="Calibri"/>
                <a:ea typeface="+mn-lt"/>
                <a:cs typeface="+mn-lt"/>
              </a:rPr>
              <a:t>mật</a:t>
            </a:r>
            <a:r>
              <a:rPr lang="en-US" sz="1800" dirty="0">
                <a:latin typeface="Calibri"/>
                <a:ea typeface="+mn-lt"/>
                <a:cs typeface="+mn-lt"/>
              </a:rPr>
              <a:t>: </a:t>
            </a:r>
            <a:r>
              <a:rPr lang="en-US" sz="1800" dirty="0" err="1">
                <a:latin typeface="Calibri"/>
                <a:ea typeface="+mn-lt"/>
                <a:cs typeface="+mn-lt"/>
              </a:rPr>
              <a:t>Mã</a:t>
            </a:r>
            <a:r>
              <a:rPr lang="en-US" sz="1800" dirty="0">
                <a:latin typeface="Calibri"/>
                <a:ea typeface="+mn-lt"/>
                <a:cs typeface="+mn-lt"/>
              </a:rPr>
              <a:t> </a:t>
            </a:r>
            <a:r>
              <a:rPr lang="en-US" sz="1800" dirty="0" err="1">
                <a:latin typeface="Calibri"/>
                <a:ea typeface="+mn-lt"/>
                <a:cs typeface="+mn-lt"/>
              </a:rPr>
              <a:t>hóa</a:t>
            </a:r>
            <a:r>
              <a:rPr lang="en-US" sz="1800" dirty="0">
                <a:latin typeface="Calibri"/>
                <a:ea typeface="+mn-lt"/>
                <a:cs typeface="+mn-lt"/>
              </a:rPr>
              <a:t> </a:t>
            </a:r>
            <a:r>
              <a:rPr lang="en-US" sz="1800" dirty="0" err="1">
                <a:latin typeface="Calibri"/>
                <a:ea typeface="+mn-lt"/>
                <a:cs typeface="+mn-lt"/>
              </a:rPr>
              <a:t>mật</a:t>
            </a:r>
            <a:r>
              <a:rPr lang="en-US" sz="1800" dirty="0">
                <a:latin typeface="Calibri"/>
                <a:ea typeface="+mn-lt"/>
                <a:cs typeface="+mn-lt"/>
              </a:rPr>
              <a:t> </a:t>
            </a:r>
            <a:r>
              <a:rPr lang="en-US" sz="1800" dirty="0" err="1">
                <a:latin typeface="Calibri"/>
                <a:ea typeface="+mn-lt"/>
                <a:cs typeface="+mn-lt"/>
              </a:rPr>
              <a:t>khẩu</a:t>
            </a:r>
            <a:r>
              <a:rPr lang="en-US" sz="1800" dirty="0">
                <a:latin typeface="Calibri"/>
                <a:ea typeface="+mn-lt"/>
                <a:cs typeface="+mn-lt"/>
              </a:rPr>
              <a:t>, </a:t>
            </a:r>
            <a:r>
              <a:rPr lang="en-US" sz="1800" dirty="0" err="1">
                <a:latin typeface="Calibri"/>
                <a:ea typeface="+mn-lt"/>
                <a:cs typeface="+mn-lt"/>
              </a:rPr>
              <a:t>phân</a:t>
            </a:r>
            <a:r>
              <a:rPr lang="en-US" sz="1800" dirty="0">
                <a:latin typeface="Calibri"/>
                <a:ea typeface="+mn-lt"/>
                <a:cs typeface="+mn-lt"/>
              </a:rPr>
              <a:t> </a:t>
            </a:r>
            <a:r>
              <a:rPr lang="en-US" sz="1800" dirty="0" err="1">
                <a:latin typeface="Calibri"/>
                <a:ea typeface="+mn-lt"/>
                <a:cs typeface="+mn-lt"/>
              </a:rPr>
              <a:t>quyền</a:t>
            </a:r>
            <a:r>
              <a:rPr lang="en-US" sz="1800" dirty="0">
                <a:latin typeface="Calibri"/>
                <a:ea typeface="+mn-lt"/>
                <a:cs typeface="+mn-lt"/>
              </a:rPr>
              <a:t>.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 lvl="1"/>
            <a:r>
              <a:rPr lang="en-US" sz="1800" dirty="0">
                <a:latin typeface="Calibri"/>
                <a:ea typeface="+mn-lt"/>
                <a:cs typeface="+mn-lt"/>
              </a:rPr>
              <a:t>Hiệu </a:t>
            </a:r>
            <a:r>
              <a:rPr lang="en-US" sz="1800" dirty="0" err="1">
                <a:latin typeface="Calibri"/>
                <a:ea typeface="+mn-lt"/>
                <a:cs typeface="+mn-lt"/>
              </a:rPr>
              <a:t>năng</a:t>
            </a:r>
            <a:r>
              <a:rPr lang="en-US" sz="1800" dirty="0">
                <a:latin typeface="Calibri"/>
                <a:ea typeface="+mn-lt"/>
                <a:cs typeface="+mn-lt"/>
              </a:rPr>
              <a:t>: </a:t>
            </a:r>
            <a:r>
              <a:rPr lang="en-US" sz="1800" dirty="0" err="1">
                <a:latin typeface="Calibri"/>
                <a:ea typeface="+mn-lt"/>
                <a:cs typeface="+mn-lt"/>
              </a:rPr>
              <a:t>Tải</a:t>
            </a:r>
            <a:r>
              <a:rPr lang="en-US" sz="1800" dirty="0">
                <a:latin typeface="Calibri"/>
                <a:ea typeface="+mn-lt"/>
                <a:cs typeface="+mn-lt"/>
              </a:rPr>
              <a:t> </a:t>
            </a:r>
            <a:r>
              <a:rPr lang="en-US" sz="1800" dirty="0" err="1">
                <a:latin typeface="Calibri"/>
                <a:ea typeface="+mn-lt"/>
                <a:cs typeface="+mn-lt"/>
              </a:rPr>
              <a:t>trang</a:t>
            </a:r>
            <a:r>
              <a:rPr lang="en-US" sz="1800" dirty="0">
                <a:latin typeface="Calibri"/>
                <a:ea typeface="+mn-lt"/>
                <a:cs typeface="+mn-lt"/>
              </a:rPr>
              <a:t> </a:t>
            </a:r>
            <a:r>
              <a:rPr lang="en-US" sz="1800" dirty="0" err="1">
                <a:latin typeface="Calibri"/>
                <a:ea typeface="+mn-lt"/>
                <a:cs typeface="+mn-lt"/>
              </a:rPr>
              <a:t>nhanh</a:t>
            </a:r>
            <a:r>
              <a:rPr lang="en-US" sz="1800" dirty="0">
                <a:latin typeface="Calibri"/>
                <a:ea typeface="+mn-lt"/>
                <a:cs typeface="+mn-lt"/>
              </a:rPr>
              <a:t>, </a:t>
            </a:r>
            <a:r>
              <a:rPr lang="en-US" sz="1800" dirty="0" err="1">
                <a:latin typeface="Calibri"/>
                <a:ea typeface="+mn-lt"/>
                <a:cs typeface="+mn-lt"/>
              </a:rPr>
              <a:t>hỗ</a:t>
            </a:r>
            <a:r>
              <a:rPr lang="en-US" sz="1800" dirty="0">
                <a:latin typeface="Calibri"/>
                <a:ea typeface="+mn-lt"/>
                <a:cs typeface="+mn-lt"/>
              </a:rPr>
              <a:t> </a:t>
            </a:r>
            <a:r>
              <a:rPr lang="en-US" sz="1800" dirty="0" err="1">
                <a:latin typeface="Calibri"/>
                <a:ea typeface="+mn-lt"/>
                <a:cs typeface="+mn-lt"/>
              </a:rPr>
              <a:t>trợ</a:t>
            </a:r>
            <a:r>
              <a:rPr lang="en-US" sz="1800" dirty="0">
                <a:latin typeface="Calibri"/>
                <a:ea typeface="+mn-lt"/>
                <a:cs typeface="+mn-lt"/>
              </a:rPr>
              <a:t> </a:t>
            </a:r>
            <a:r>
              <a:rPr lang="en-US" sz="1800" dirty="0" err="1">
                <a:latin typeface="Calibri"/>
                <a:ea typeface="+mn-lt"/>
                <a:cs typeface="+mn-lt"/>
              </a:rPr>
              <a:t>đa</a:t>
            </a:r>
            <a:r>
              <a:rPr lang="en-US" sz="1800" dirty="0">
                <a:latin typeface="Calibri"/>
                <a:ea typeface="+mn-lt"/>
                <a:cs typeface="+mn-lt"/>
              </a:rPr>
              <a:t> </a:t>
            </a:r>
            <a:r>
              <a:rPr lang="en-US" sz="1800" dirty="0" err="1">
                <a:latin typeface="Calibri"/>
                <a:ea typeface="+mn-lt"/>
                <a:cs typeface="+mn-lt"/>
              </a:rPr>
              <a:t>thiết</a:t>
            </a:r>
            <a:r>
              <a:rPr lang="en-US" sz="1800" dirty="0">
                <a:latin typeface="Calibri"/>
                <a:ea typeface="+mn-lt"/>
                <a:cs typeface="+mn-lt"/>
              </a:rPr>
              <a:t> </a:t>
            </a:r>
            <a:r>
              <a:rPr lang="en-US" sz="1800" dirty="0" err="1">
                <a:latin typeface="Calibri"/>
                <a:ea typeface="+mn-lt"/>
                <a:cs typeface="+mn-lt"/>
              </a:rPr>
              <a:t>bị</a:t>
            </a:r>
            <a:r>
              <a:rPr lang="en-US" sz="1800" dirty="0">
                <a:latin typeface="Calibri"/>
                <a:ea typeface="+mn-lt"/>
                <a:cs typeface="+mn-lt"/>
              </a:rPr>
              <a:t> (PC, Mobile).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 lvl="1"/>
            <a:r>
              <a:rPr lang="en-US" sz="1800" dirty="0" err="1">
                <a:latin typeface="Calibri"/>
                <a:ea typeface="+mn-lt"/>
                <a:cs typeface="+mn-lt"/>
              </a:rPr>
              <a:t>Khả</a:t>
            </a:r>
            <a:r>
              <a:rPr lang="en-US" sz="1800" dirty="0">
                <a:latin typeface="Calibri"/>
                <a:ea typeface="+mn-lt"/>
                <a:cs typeface="+mn-lt"/>
              </a:rPr>
              <a:t> </a:t>
            </a:r>
            <a:r>
              <a:rPr lang="en-US" sz="1800" dirty="0" err="1">
                <a:latin typeface="Calibri"/>
                <a:ea typeface="+mn-lt"/>
                <a:cs typeface="+mn-lt"/>
              </a:rPr>
              <a:t>dụng</a:t>
            </a:r>
            <a:r>
              <a:rPr lang="en-US" sz="1800" dirty="0">
                <a:latin typeface="Calibri"/>
                <a:ea typeface="+mn-lt"/>
                <a:cs typeface="+mn-lt"/>
              </a:rPr>
              <a:t>: </a:t>
            </a:r>
            <a:r>
              <a:rPr lang="en-US" sz="1800" dirty="0" err="1">
                <a:latin typeface="Calibri"/>
                <a:ea typeface="+mn-lt"/>
                <a:cs typeface="+mn-lt"/>
              </a:rPr>
              <a:t>Hoạt</a:t>
            </a:r>
            <a:r>
              <a:rPr lang="en-US" sz="1800" dirty="0">
                <a:latin typeface="Calibri"/>
                <a:ea typeface="+mn-lt"/>
                <a:cs typeface="+mn-lt"/>
              </a:rPr>
              <a:t> </a:t>
            </a:r>
            <a:r>
              <a:rPr lang="en-US" sz="1800" dirty="0" err="1">
                <a:latin typeface="Calibri"/>
                <a:ea typeface="+mn-lt"/>
                <a:cs typeface="+mn-lt"/>
              </a:rPr>
              <a:t>động</a:t>
            </a:r>
            <a:r>
              <a:rPr lang="en-US" sz="1800" dirty="0">
                <a:latin typeface="Calibri"/>
                <a:ea typeface="+mn-lt"/>
                <a:cs typeface="+mn-lt"/>
              </a:rPr>
              <a:t> 24/7 </a:t>
            </a:r>
            <a:r>
              <a:rPr lang="en-US" sz="1800" dirty="0" err="1">
                <a:latin typeface="Calibri"/>
                <a:ea typeface="+mn-lt"/>
                <a:cs typeface="+mn-lt"/>
              </a:rPr>
              <a:t>trên</a:t>
            </a:r>
            <a:r>
              <a:rPr lang="en-US" sz="1800" dirty="0">
                <a:latin typeface="Calibri"/>
                <a:ea typeface="+mn-lt"/>
                <a:cs typeface="+mn-lt"/>
              </a:rPr>
              <a:t> </a:t>
            </a:r>
            <a:r>
              <a:rPr lang="en-US" sz="1800" dirty="0" err="1">
                <a:latin typeface="Calibri"/>
                <a:ea typeface="+mn-lt"/>
                <a:cs typeface="+mn-lt"/>
              </a:rPr>
              <a:t>nền</a:t>
            </a:r>
            <a:r>
              <a:rPr lang="en-US" sz="1800" dirty="0">
                <a:latin typeface="Calibri"/>
                <a:ea typeface="+mn-lt"/>
                <a:cs typeface="+mn-lt"/>
              </a:rPr>
              <a:t> </a:t>
            </a:r>
            <a:r>
              <a:rPr lang="en-US" sz="1800" dirty="0" err="1">
                <a:latin typeface="Calibri"/>
                <a:ea typeface="+mn-lt"/>
                <a:cs typeface="+mn-lt"/>
              </a:rPr>
              <a:t>tảng</a:t>
            </a:r>
            <a:r>
              <a:rPr lang="en-US" sz="1800" dirty="0">
                <a:latin typeface="Calibri"/>
                <a:ea typeface="+mn-lt"/>
                <a:cs typeface="+mn-lt"/>
              </a:rPr>
              <a:t> Cloud.</a:t>
            </a:r>
            <a:endParaRPr lang="en-US" sz="1800" dirty="0">
              <a:latin typeface="Calibri"/>
              <a:ea typeface="Calibri"/>
              <a:cs typeface="Calibri"/>
            </a:endParaRPr>
          </a:p>
          <a:p>
            <a:endParaRPr lang="en-US" sz="1700"/>
          </a:p>
        </p:txBody>
      </p:sp>
      <p:pic>
        <p:nvPicPr>
          <p:cNvPr id="4" name="Picture 3" descr="Hình ảnh Phim Hoạt Hình Bản đồ Tư Duy Sáng Tạo PNG , Hoạt Hình, Sáng Tạo, Sơ  đồ Tư Duy PNG miễn phí tải tập tin PSDComment và Vector">
            <a:extLst>
              <a:ext uri="{FF2B5EF4-FFF2-40B4-BE49-F238E27FC236}">
                <a16:creationId xmlns:a16="http://schemas.microsoft.com/office/drawing/2014/main" id="{4A6CA9B1-C5B1-663C-E742-7FD1F152FA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03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684987850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DAE16C-077E-B080-12B9-386242390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263" y="401472"/>
            <a:ext cx="5218507" cy="792278"/>
          </a:xfrm>
        </p:spPr>
        <p:txBody>
          <a:bodyPr anchor="b">
            <a:normAutofit/>
          </a:bodyPr>
          <a:lstStyle/>
          <a:p>
            <a:pPr algn="ctr"/>
            <a:r>
              <a:rPr lang="en-US" sz="3600" dirty="0" err="1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Sơ</a:t>
            </a:r>
            <a:r>
              <a:rPr lang="en-US" sz="3600" dirty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600" dirty="0" err="1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đồ</a:t>
            </a:r>
            <a:r>
              <a:rPr lang="en-US" sz="3600" dirty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 Use Case </a:t>
            </a:r>
            <a:r>
              <a:rPr lang="en-US" sz="3600" dirty="0" err="1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Tổng</a:t>
            </a:r>
            <a:r>
              <a:rPr lang="en-US" sz="3600" dirty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600" dirty="0" err="1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quát</a:t>
            </a:r>
            <a:endParaRPr lang="en-US" sz="3600" dirty="0">
              <a:solidFill>
                <a:srgbClr val="59595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BFA70-D170-AD67-0FFA-08CE5D167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637" y="1708083"/>
            <a:ext cx="5353950" cy="415712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Các </a:t>
            </a:r>
            <a:r>
              <a:rPr lang="en-US" dirty="0" err="1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tác</a:t>
            </a:r>
            <a:r>
              <a:rPr lang="en-US" dirty="0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nhân</a:t>
            </a:r>
            <a:r>
              <a:rPr lang="en-US" dirty="0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và</a:t>
            </a:r>
            <a:r>
              <a:rPr lang="en-US" dirty="0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chức</a:t>
            </a:r>
            <a:r>
              <a:rPr lang="en-US" dirty="0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năng</a:t>
            </a:r>
            <a:r>
              <a:rPr lang="en-US" dirty="0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chính</a:t>
            </a:r>
            <a:r>
              <a:rPr lang="en-US" dirty="0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:</a:t>
            </a:r>
            <a:endParaRPr lang="en-US">
              <a:solidFill>
                <a:srgbClr val="595959"/>
              </a:solidFill>
              <a:latin typeface="Calibri"/>
              <a:ea typeface="Calibri"/>
              <a:cs typeface="Calibri"/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en-US" b="1" dirty="0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Admin:</a:t>
            </a:r>
            <a:r>
              <a:rPr lang="en-US" dirty="0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 Quản </a:t>
            </a:r>
            <a:r>
              <a:rPr lang="en-US" dirty="0" err="1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lý</a:t>
            </a:r>
            <a:r>
              <a:rPr lang="en-US" dirty="0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người</a:t>
            </a:r>
            <a:r>
              <a:rPr lang="en-US" dirty="0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dùng</a:t>
            </a:r>
            <a:r>
              <a:rPr lang="en-US" dirty="0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, Môn </a:t>
            </a:r>
            <a:r>
              <a:rPr lang="en-US" dirty="0" err="1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thi</a:t>
            </a:r>
            <a:r>
              <a:rPr lang="en-US" dirty="0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Kỳ</a:t>
            </a:r>
            <a:r>
              <a:rPr lang="en-US" dirty="0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thi</a:t>
            </a:r>
            <a:r>
              <a:rPr lang="en-US" dirty="0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Thống</a:t>
            </a:r>
            <a:r>
              <a:rPr lang="en-US" dirty="0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kê</a:t>
            </a:r>
            <a:r>
              <a:rPr lang="en-US" dirty="0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.</a:t>
            </a:r>
            <a:endParaRPr lang="en-US">
              <a:solidFill>
                <a:srgbClr val="595959"/>
              </a:solidFill>
              <a:latin typeface="Calibri"/>
              <a:ea typeface="Calibri"/>
              <a:cs typeface="Calibri"/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en-US" b="1" dirty="0" err="1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Giáo</a:t>
            </a:r>
            <a:r>
              <a:rPr lang="en-US" b="1" dirty="0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b="1" dirty="0" err="1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viên</a:t>
            </a:r>
            <a:r>
              <a:rPr lang="en-US" b="1" dirty="0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:</a:t>
            </a:r>
            <a:r>
              <a:rPr lang="en-US" dirty="0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Nhập</a:t>
            </a:r>
            <a:r>
              <a:rPr lang="en-US" dirty="0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điểm</a:t>
            </a:r>
            <a:r>
              <a:rPr lang="en-US" dirty="0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 (</a:t>
            </a:r>
            <a:r>
              <a:rPr lang="en-US" dirty="0" err="1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Thủ</a:t>
            </a:r>
            <a:r>
              <a:rPr lang="en-US" dirty="0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công</a:t>
            </a:r>
            <a:r>
              <a:rPr lang="en-US" dirty="0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/Excel), Xem </a:t>
            </a:r>
            <a:r>
              <a:rPr lang="en-US" dirty="0" err="1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danh</a:t>
            </a:r>
            <a:r>
              <a:rPr lang="en-US" dirty="0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sách</a:t>
            </a:r>
            <a:r>
              <a:rPr lang="en-US" dirty="0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lớp</a:t>
            </a:r>
            <a:r>
              <a:rPr lang="en-US" dirty="0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.</a:t>
            </a:r>
            <a:endParaRPr lang="en-US">
              <a:solidFill>
                <a:srgbClr val="595959"/>
              </a:solidFill>
              <a:latin typeface="Calibri"/>
              <a:ea typeface="Calibri"/>
              <a:cs typeface="Calibri"/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en-US" b="1" dirty="0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Học </a:t>
            </a:r>
            <a:r>
              <a:rPr lang="en-US" b="1" dirty="0" err="1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viên</a:t>
            </a:r>
            <a:r>
              <a:rPr lang="en-US" b="1" dirty="0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:</a:t>
            </a:r>
            <a:r>
              <a:rPr lang="en-US" dirty="0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 Tra </a:t>
            </a:r>
            <a:r>
              <a:rPr lang="en-US" dirty="0" err="1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cứu</a:t>
            </a:r>
            <a:r>
              <a:rPr lang="en-US" dirty="0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điểm</a:t>
            </a:r>
            <a:r>
              <a:rPr lang="en-US" dirty="0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, Xem </a:t>
            </a:r>
            <a:r>
              <a:rPr lang="en-US" dirty="0" err="1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thông</a:t>
            </a:r>
            <a:r>
              <a:rPr lang="en-US" dirty="0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 tin </a:t>
            </a:r>
            <a:r>
              <a:rPr lang="en-US" dirty="0" err="1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kỳ</a:t>
            </a:r>
            <a:r>
              <a:rPr lang="en-US" dirty="0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thi</a:t>
            </a:r>
            <a:r>
              <a:rPr lang="en-US" dirty="0">
                <a:solidFill>
                  <a:srgbClr val="595959"/>
                </a:solidFill>
                <a:latin typeface="Calibri"/>
                <a:ea typeface="+mn-lt"/>
                <a:cs typeface="+mn-lt"/>
              </a:rPr>
              <a:t>.</a:t>
            </a:r>
            <a:endParaRPr lang="en-US" dirty="0">
              <a:solidFill>
                <a:srgbClr val="595959"/>
              </a:solidFill>
              <a:latin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3C3AA5-FBA0-87FA-5534-7443A212D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1476" y="685799"/>
            <a:ext cx="4577706" cy="5531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733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CB473F-785E-1968-91CA-9BA591F65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alibri"/>
                <a:ea typeface="+mj-lt"/>
                <a:cs typeface="+mj-lt"/>
              </a:rPr>
              <a:t>Quy </a:t>
            </a:r>
            <a:r>
              <a:rPr lang="en-US" sz="3600" dirty="0" err="1">
                <a:latin typeface="Calibri"/>
                <a:ea typeface="+mj-lt"/>
                <a:cs typeface="+mj-lt"/>
              </a:rPr>
              <a:t>trình</a:t>
            </a:r>
            <a:r>
              <a:rPr lang="en-US" sz="3600" dirty="0">
                <a:latin typeface="Calibri"/>
                <a:ea typeface="+mj-lt"/>
                <a:cs typeface="+mj-lt"/>
              </a:rPr>
              <a:t> </a:t>
            </a:r>
            <a:r>
              <a:rPr lang="en-US" sz="3600" dirty="0" err="1">
                <a:latin typeface="Calibri"/>
                <a:ea typeface="+mj-lt"/>
                <a:cs typeface="+mj-lt"/>
              </a:rPr>
              <a:t>nghiệp</a:t>
            </a:r>
            <a:r>
              <a:rPr lang="en-US" sz="3600" dirty="0">
                <a:latin typeface="Calibri"/>
                <a:ea typeface="+mj-lt"/>
                <a:cs typeface="+mj-lt"/>
              </a:rPr>
              <a:t> </a:t>
            </a:r>
            <a:r>
              <a:rPr lang="en-US" sz="3600" dirty="0" err="1">
                <a:latin typeface="Calibri"/>
                <a:ea typeface="+mj-lt"/>
                <a:cs typeface="+mj-lt"/>
              </a:rPr>
              <a:t>vụ</a:t>
            </a:r>
            <a:r>
              <a:rPr lang="en-US" sz="3600" dirty="0">
                <a:latin typeface="Calibri"/>
                <a:ea typeface="+mj-lt"/>
                <a:cs typeface="+mj-lt"/>
              </a:rPr>
              <a:t> </a:t>
            </a:r>
            <a:r>
              <a:rPr lang="en-US" sz="3600" dirty="0" err="1">
                <a:latin typeface="Calibri"/>
                <a:ea typeface="+mj-lt"/>
                <a:cs typeface="+mj-lt"/>
              </a:rPr>
              <a:t>chính</a:t>
            </a:r>
            <a:endParaRPr lang="en-US" sz="3600" dirty="0" err="1">
              <a:latin typeface="Calibri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14AEF-1791-0532-1B2E-A7C06DB9F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Calibri" panose="020B0604020202020204" pitchFamily="34" charset="0"/>
              <a:buChar char="-"/>
            </a:pPr>
            <a:r>
              <a:rPr lang="en-US" b="1" dirty="0">
                <a:latin typeface="Calibri"/>
                <a:ea typeface="+mn-lt"/>
                <a:cs typeface="+mn-lt"/>
              </a:rPr>
              <a:t>Quy </a:t>
            </a:r>
            <a:r>
              <a:rPr lang="en-US" b="1" dirty="0" err="1">
                <a:latin typeface="Calibri"/>
                <a:ea typeface="+mn-lt"/>
                <a:cs typeface="+mn-lt"/>
              </a:rPr>
              <a:t>trình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dirty="0" err="1">
                <a:latin typeface="Calibri"/>
                <a:ea typeface="+mn-lt"/>
                <a:cs typeface="+mn-lt"/>
              </a:rPr>
              <a:t>Đăng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dirty="0" err="1">
                <a:latin typeface="Calibri"/>
                <a:ea typeface="+mn-lt"/>
                <a:cs typeface="+mn-lt"/>
              </a:rPr>
              <a:t>nhập</a:t>
            </a:r>
            <a:r>
              <a:rPr lang="en-US" b="1" dirty="0">
                <a:latin typeface="Calibri"/>
                <a:ea typeface="+mn-lt"/>
                <a:cs typeface="+mn-lt"/>
              </a:rPr>
              <a:t>: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Kiểm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tra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thông</a:t>
            </a:r>
            <a:r>
              <a:rPr lang="en-US" dirty="0">
                <a:latin typeface="Calibri"/>
                <a:ea typeface="+mn-lt"/>
                <a:cs typeface="+mn-lt"/>
              </a:rPr>
              <a:t> tin -&gt; </a:t>
            </a:r>
            <a:r>
              <a:rPr lang="en-US" dirty="0" err="1">
                <a:latin typeface="Calibri"/>
                <a:ea typeface="+mn-lt"/>
                <a:cs typeface="+mn-lt"/>
              </a:rPr>
              <a:t>Cấp</a:t>
            </a:r>
            <a:r>
              <a:rPr lang="en-US" dirty="0">
                <a:latin typeface="Calibri"/>
                <a:ea typeface="+mn-lt"/>
                <a:cs typeface="+mn-lt"/>
              </a:rPr>
              <a:t> Token -&gt; </a:t>
            </a:r>
            <a:r>
              <a:rPr lang="en-US" dirty="0" err="1">
                <a:latin typeface="Calibri"/>
                <a:ea typeface="+mn-lt"/>
                <a:cs typeface="+mn-lt"/>
              </a:rPr>
              <a:t>Chuyển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hướng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theo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vai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trò</a:t>
            </a:r>
            <a:r>
              <a:rPr lang="en-US" dirty="0">
                <a:latin typeface="Calibri"/>
                <a:ea typeface="+mn-lt"/>
                <a:cs typeface="+mn-lt"/>
              </a:rPr>
              <a:t>.</a:t>
            </a:r>
            <a:endParaRPr lang="en-US">
              <a:latin typeface="Calibri"/>
              <a:ea typeface="Calibri"/>
              <a:cs typeface="Calibri"/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en-US" b="1" dirty="0">
                <a:latin typeface="Calibri"/>
                <a:ea typeface="+mn-lt"/>
                <a:cs typeface="+mn-lt"/>
              </a:rPr>
              <a:t>Quy </a:t>
            </a:r>
            <a:r>
              <a:rPr lang="en-US" b="1" dirty="0" err="1">
                <a:latin typeface="Calibri"/>
                <a:ea typeface="+mn-lt"/>
                <a:cs typeface="+mn-lt"/>
              </a:rPr>
              <a:t>trình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dirty="0" err="1">
                <a:latin typeface="Calibri"/>
                <a:ea typeface="+mn-lt"/>
                <a:cs typeface="+mn-lt"/>
              </a:rPr>
              <a:t>Nhập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dirty="0" err="1">
                <a:latin typeface="Calibri"/>
                <a:ea typeface="+mn-lt"/>
                <a:cs typeface="+mn-lt"/>
              </a:rPr>
              <a:t>điểm</a:t>
            </a:r>
            <a:r>
              <a:rPr lang="en-US" b="1" dirty="0">
                <a:latin typeface="Calibri"/>
                <a:ea typeface="+mn-lt"/>
                <a:cs typeface="+mn-lt"/>
              </a:rPr>
              <a:t>: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Chọn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kỳ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thi</a:t>
            </a:r>
            <a:r>
              <a:rPr lang="en-US" dirty="0">
                <a:latin typeface="Calibri"/>
                <a:ea typeface="+mn-lt"/>
                <a:cs typeface="+mn-lt"/>
              </a:rPr>
              <a:t> -&gt; </a:t>
            </a:r>
            <a:r>
              <a:rPr lang="en-US" dirty="0" err="1">
                <a:latin typeface="Calibri"/>
                <a:ea typeface="+mn-lt"/>
                <a:cs typeface="+mn-lt"/>
              </a:rPr>
              <a:t>Chọn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nhập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thủ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công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hoặc</a:t>
            </a:r>
            <a:r>
              <a:rPr lang="en-US" dirty="0">
                <a:latin typeface="Calibri"/>
                <a:ea typeface="+mn-lt"/>
                <a:cs typeface="+mn-lt"/>
              </a:rPr>
              <a:t> Import Excel -&gt; Lưu </a:t>
            </a:r>
            <a:r>
              <a:rPr lang="en-US" dirty="0" err="1">
                <a:latin typeface="Calibri"/>
                <a:ea typeface="+mn-lt"/>
                <a:cs typeface="+mn-lt"/>
              </a:rPr>
              <a:t>vào</a:t>
            </a:r>
            <a:r>
              <a:rPr lang="en-US" dirty="0">
                <a:latin typeface="Calibri"/>
                <a:ea typeface="+mn-lt"/>
                <a:cs typeface="+mn-lt"/>
              </a:rPr>
              <a:t> DB.</a:t>
            </a:r>
            <a:endParaRPr lang="en-US">
              <a:latin typeface="Calibri"/>
              <a:ea typeface="Calibri"/>
              <a:cs typeface="Calibri"/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en-US" b="1" dirty="0">
                <a:latin typeface="Calibri"/>
                <a:ea typeface="+mn-lt"/>
                <a:cs typeface="+mn-lt"/>
              </a:rPr>
              <a:t>Quy </a:t>
            </a:r>
            <a:r>
              <a:rPr lang="en-US" b="1" dirty="0" err="1">
                <a:latin typeface="Calibri"/>
                <a:ea typeface="+mn-lt"/>
                <a:cs typeface="+mn-lt"/>
              </a:rPr>
              <a:t>trình</a:t>
            </a:r>
            <a:r>
              <a:rPr lang="en-US" b="1" dirty="0">
                <a:latin typeface="Calibri"/>
                <a:ea typeface="+mn-lt"/>
                <a:cs typeface="+mn-lt"/>
              </a:rPr>
              <a:t> Tra </a:t>
            </a:r>
            <a:r>
              <a:rPr lang="en-US" b="1" dirty="0" err="1">
                <a:latin typeface="Calibri"/>
                <a:ea typeface="+mn-lt"/>
                <a:cs typeface="+mn-lt"/>
              </a:rPr>
              <a:t>cứu</a:t>
            </a:r>
            <a:r>
              <a:rPr lang="en-US" b="1" dirty="0">
                <a:latin typeface="Calibri"/>
                <a:ea typeface="+mn-lt"/>
                <a:cs typeface="+mn-lt"/>
              </a:rPr>
              <a:t>: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Đăng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nhập</a:t>
            </a:r>
            <a:r>
              <a:rPr lang="en-US" dirty="0">
                <a:latin typeface="Calibri"/>
                <a:ea typeface="+mn-lt"/>
                <a:cs typeface="+mn-lt"/>
              </a:rPr>
              <a:t> -&gt; </a:t>
            </a:r>
            <a:r>
              <a:rPr lang="en-US" dirty="0" err="1">
                <a:latin typeface="Calibri"/>
                <a:ea typeface="+mn-lt"/>
                <a:cs typeface="+mn-lt"/>
              </a:rPr>
              <a:t>Chọn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kỳ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thi</a:t>
            </a:r>
            <a:r>
              <a:rPr lang="en-US" dirty="0">
                <a:latin typeface="Calibri"/>
                <a:ea typeface="+mn-lt"/>
                <a:cs typeface="+mn-lt"/>
              </a:rPr>
              <a:t> -&gt; Hiển </a:t>
            </a:r>
            <a:r>
              <a:rPr lang="en-US" dirty="0" err="1">
                <a:latin typeface="Calibri"/>
                <a:ea typeface="+mn-lt"/>
                <a:cs typeface="+mn-lt"/>
              </a:rPr>
              <a:t>thị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kết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quả</a:t>
            </a:r>
            <a:r>
              <a:rPr lang="en-US" dirty="0">
                <a:latin typeface="Calibri"/>
                <a:ea typeface="+mn-lt"/>
                <a:cs typeface="+mn-lt"/>
              </a:rPr>
              <a:t>.</a:t>
            </a:r>
            <a:endParaRPr lang="en-US" dirty="0">
              <a:latin typeface="Calibri"/>
            </a:endParaRPr>
          </a:p>
          <a:p>
            <a:pPr>
              <a:buFont typeface="Calibri" panose="020B0604020202020204" pitchFamily="34" charset="0"/>
              <a:buChar char="-"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146127795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5567C2-73DF-A3EB-6F3C-69FE214CA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 err="1">
                <a:latin typeface="Calibri"/>
                <a:ea typeface="+mj-lt"/>
                <a:cs typeface="+mj-lt"/>
              </a:rPr>
              <a:t>Thiết</a:t>
            </a:r>
            <a:r>
              <a:rPr lang="en-US" sz="3600" dirty="0">
                <a:latin typeface="Calibri"/>
                <a:ea typeface="+mj-lt"/>
                <a:cs typeface="+mj-lt"/>
              </a:rPr>
              <a:t> </a:t>
            </a:r>
            <a:r>
              <a:rPr lang="en-US" sz="3600" dirty="0" err="1">
                <a:latin typeface="Calibri"/>
                <a:ea typeface="+mj-lt"/>
                <a:cs typeface="+mj-lt"/>
              </a:rPr>
              <a:t>kế</a:t>
            </a:r>
            <a:r>
              <a:rPr lang="en-US" sz="3600" dirty="0">
                <a:latin typeface="Calibri"/>
                <a:ea typeface="+mj-lt"/>
                <a:cs typeface="+mj-lt"/>
              </a:rPr>
              <a:t> </a:t>
            </a:r>
            <a:r>
              <a:rPr lang="en-US" sz="3600" dirty="0" err="1">
                <a:latin typeface="Calibri"/>
                <a:ea typeface="+mj-lt"/>
                <a:cs typeface="+mj-lt"/>
              </a:rPr>
              <a:t>Cơ</a:t>
            </a:r>
            <a:r>
              <a:rPr lang="en-US" sz="3600" dirty="0">
                <a:latin typeface="Calibri"/>
                <a:ea typeface="+mj-lt"/>
                <a:cs typeface="+mj-lt"/>
              </a:rPr>
              <a:t> </a:t>
            </a:r>
            <a:r>
              <a:rPr lang="en-US" sz="3600" dirty="0" err="1">
                <a:latin typeface="Calibri"/>
                <a:ea typeface="+mj-lt"/>
                <a:cs typeface="+mj-lt"/>
              </a:rPr>
              <a:t>sở</a:t>
            </a:r>
            <a:r>
              <a:rPr lang="en-US" sz="3600" dirty="0">
                <a:latin typeface="Calibri"/>
                <a:ea typeface="+mj-lt"/>
                <a:cs typeface="+mj-lt"/>
              </a:rPr>
              <a:t> </a:t>
            </a:r>
            <a:r>
              <a:rPr lang="en-US" sz="3600" dirty="0" err="1">
                <a:latin typeface="Calibri"/>
                <a:ea typeface="+mj-lt"/>
                <a:cs typeface="+mj-lt"/>
              </a:rPr>
              <a:t>dữ</a:t>
            </a:r>
            <a:r>
              <a:rPr lang="en-US" sz="3600" dirty="0">
                <a:latin typeface="Calibri"/>
                <a:ea typeface="+mj-lt"/>
                <a:cs typeface="+mj-lt"/>
              </a:rPr>
              <a:t> </a:t>
            </a:r>
            <a:r>
              <a:rPr lang="en-US" sz="3600" dirty="0" err="1">
                <a:latin typeface="Calibri"/>
                <a:ea typeface="+mj-lt"/>
                <a:cs typeface="+mj-lt"/>
              </a:rPr>
              <a:t>liệu</a:t>
            </a:r>
            <a:endParaRPr lang="en-US" sz="36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DE685-CF8C-39D0-79A2-265F1B246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200" dirty="0" err="1">
                <a:latin typeface="Calibri"/>
                <a:ea typeface="+mn-lt"/>
                <a:cs typeface="+mn-lt"/>
              </a:rPr>
              <a:t>Sơ</a:t>
            </a:r>
            <a:r>
              <a:rPr lang="en-US" sz="2200" dirty="0">
                <a:latin typeface="Calibri"/>
                <a:ea typeface="+mn-lt"/>
                <a:cs typeface="+mn-lt"/>
              </a:rPr>
              <a:t> </a:t>
            </a:r>
            <a:r>
              <a:rPr lang="en-US" sz="2200" dirty="0" err="1">
                <a:latin typeface="Calibri"/>
                <a:ea typeface="+mn-lt"/>
                <a:cs typeface="+mn-lt"/>
              </a:rPr>
              <a:t>đồ</a:t>
            </a:r>
            <a:r>
              <a:rPr lang="en-US" sz="2200" dirty="0">
                <a:latin typeface="Calibri"/>
                <a:ea typeface="+mn-lt"/>
                <a:cs typeface="+mn-lt"/>
              </a:rPr>
              <a:t> </a:t>
            </a:r>
            <a:r>
              <a:rPr lang="en-US" sz="2200" dirty="0" err="1">
                <a:latin typeface="Calibri"/>
                <a:ea typeface="+mn-lt"/>
                <a:cs typeface="+mn-lt"/>
              </a:rPr>
              <a:t>quan</a:t>
            </a:r>
            <a:r>
              <a:rPr lang="en-US" sz="2200" dirty="0">
                <a:latin typeface="Calibri"/>
                <a:ea typeface="+mn-lt"/>
                <a:cs typeface="+mn-lt"/>
              </a:rPr>
              <a:t> </a:t>
            </a:r>
            <a:r>
              <a:rPr lang="en-US" sz="2200" dirty="0" err="1">
                <a:latin typeface="Calibri"/>
                <a:ea typeface="+mn-lt"/>
                <a:cs typeface="+mn-lt"/>
              </a:rPr>
              <a:t>hệ</a:t>
            </a:r>
            <a:r>
              <a:rPr lang="en-US" sz="2200" dirty="0">
                <a:latin typeface="Calibri"/>
                <a:ea typeface="+mn-lt"/>
                <a:cs typeface="+mn-lt"/>
              </a:rPr>
              <a:t> </a:t>
            </a:r>
            <a:r>
              <a:rPr lang="en-US" sz="2200" dirty="0" err="1">
                <a:latin typeface="Calibri"/>
                <a:ea typeface="+mn-lt"/>
                <a:cs typeface="+mn-lt"/>
              </a:rPr>
              <a:t>thực</a:t>
            </a:r>
            <a:r>
              <a:rPr lang="en-US" sz="2200" dirty="0">
                <a:latin typeface="Calibri"/>
                <a:ea typeface="+mn-lt"/>
                <a:cs typeface="+mn-lt"/>
              </a:rPr>
              <a:t> </a:t>
            </a:r>
            <a:r>
              <a:rPr lang="en-US" sz="2200" dirty="0" err="1">
                <a:latin typeface="Calibri"/>
                <a:ea typeface="+mn-lt"/>
                <a:cs typeface="+mn-lt"/>
              </a:rPr>
              <a:t>thể</a:t>
            </a:r>
            <a:r>
              <a:rPr lang="en-US" sz="2200" dirty="0">
                <a:latin typeface="Calibri"/>
                <a:ea typeface="+mn-lt"/>
                <a:cs typeface="+mn-lt"/>
              </a:rPr>
              <a:t> </a:t>
            </a:r>
            <a:r>
              <a:rPr lang="en-US" sz="2200" dirty="0" err="1">
                <a:latin typeface="Calibri"/>
                <a:ea typeface="+mn-lt"/>
                <a:cs typeface="+mn-lt"/>
              </a:rPr>
              <a:t>gồm</a:t>
            </a:r>
            <a:r>
              <a:rPr lang="en-US" sz="2200" dirty="0">
                <a:latin typeface="Calibri"/>
                <a:ea typeface="+mn-lt"/>
                <a:cs typeface="+mn-lt"/>
              </a:rPr>
              <a:t> 5 </a:t>
            </a:r>
            <a:r>
              <a:rPr lang="en-US" sz="2200" dirty="0" err="1">
                <a:latin typeface="Calibri"/>
                <a:ea typeface="+mn-lt"/>
                <a:cs typeface="+mn-lt"/>
              </a:rPr>
              <a:t>bảng</a:t>
            </a:r>
            <a:r>
              <a:rPr lang="en-US" sz="2200" dirty="0">
                <a:latin typeface="Calibri"/>
                <a:ea typeface="+mn-lt"/>
                <a:cs typeface="+mn-lt"/>
              </a:rPr>
              <a:t> </a:t>
            </a:r>
            <a:r>
              <a:rPr lang="en-US" sz="2200" dirty="0" err="1">
                <a:latin typeface="Calibri"/>
                <a:ea typeface="+mn-lt"/>
                <a:cs typeface="+mn-lt"/>
              </a:rPr>
              <a:t>chính</a:t>
            </a:r>
            <a:r>
              <a:rPr lang="en-US" sz="2200" dirty="0">
                <a:latin typeface="Calibri"/>
                <a:ea typeface="+mn-lt"/>
                <a:cs typeface="+mn-lt"/>
              </a:rPr>
              <a:t>:</a:t>
            </a:r>
            <a:endParaRPr lang="en-US" sz="2200" dirty="0">
              <a:latin typeface="Calibri"/>
              <a:ea typeface="Calibri"/>
              <a:cs typeface="Calibri"/>
            </a:endParaRPr>
          </a:p>
          <a:p>
            <a:pPr>
              <a:buFont typeface="Calibri"/>
              <a:buChar char="-"/>
            </a:pPr>
            <a:r>
              <a:rPr lang="en-US" sz="2200">
                <a:latin typeface="Calibri"/>
                <a:ea typeface="Calibri"/>
                <a:cs typeface="Calibri"/>
              </a:rPr>
              <a:t>NGUOI_DUNG</a:t>
            </a:r>
            <a:r>
              <a:rPr lang="en-US" sz="2200">
                <a:latin typeface="Calibri"/>
                <a:ea typeface="+mn-lt"/>
                <a:cs typeface="+mn-lt"/>
              </a:rPr>
              <a:t>: Thông tin Admin, GV, HV.</a:t>
            </a:r>
            <a:endParaRPr lang="en-US" sz="2200" dirty="0">
              <a:latin typeface="Calibri"/>
              <a:ea typeface="Calibri"/>
              <a:cs typeface="Calibri"/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en-US" sz="2200" dirty="0">
                <a:latin typeface="Calibri"/>
                <a:ea typeface="Calibri"/>
                <a:cs typeface="Calibri"/>
              </a:rPr>
              <a:t>MON_THI</a:t>
            </a:r>
            <a:r>
              <a:rPr lang="en-US" sz="2200" dirty="0">
                <a:latin typeface="Calibri"/>
                <a:ea typeface="+mn-lt"/>
                <a:cs typeface="+mn-lt"/>
              </a:rPr>
              <a:t>: Danh </a:t>
            </a:r>
            <a:r>
              <a:rPr lang="en-US" sz="2200" dirty="0" err="1">
                <a:latin typeface="Calibri"/>
                <a:ea typeface="+mn-lt"/>
                <a:cs typeface="+mn-lt"/>
              </a:rPr>
              <a:t>sách</a:t>
            </a:r>
            <a:r>
              <a:rPr lang="en-US" sz="2200" dirty="0">
                <a:latin typeface="Calibri"/>
                <a:ea typeface="+mn-lt"/>
                <a:cs typeface="+mn-lt"/>
              </a:rPr>
              <a:t> </a:t>
            </a:r>
            <a:r>
              <a:rPr lang="en-US" sz="2200" dirty="0" err="1">
                <a:latin typeface="Calibri"/>
                <a:ea typeface="+mn-lt"/>
                <a:cs typeface="+mn-lt"/>
              </a:rPr>
              <a:t>môn</a:t>
            </a:r>
            <a:r>
              <a:rPr lang="en-US" sz="2200" dirty="0">
                <a:latin typeface="Calibri"/>
                <a:ea typeface="+mn-lt"/>
                <a:cs typeface="+mn-lt"/>
              </a:rPr>
              <a:t> </a:t>
            </a:r>
            <a:r>
              <a:rPr lang="en-US" sz="2200" dirty="0" err="1">
                <a:latin typeface="Calibri"/>
                <a:ea typeface="+mn-lt"/>
                <a:cs typeface="+mn-lt"/>
              </a:rPr>
              <a:t>học</a:t>
            </a:r>
            <a:r>
              <a:rPr lang="en-US" sz="2200" dirty="0">
                <a:latin typeface="Calibri"/>
                <a:ea typeface="+mn-lt"/>
                <a:cs typeface="+mn-lt"/>
              </a:rPr>
              <a:t>, </a:t>
            </a:r>
            <a:r>
              <a:rPr lang="en-US" sz="2200" dirty="0" err="1">
                <a:latin typeface="Calibri"/>
                <a:ea typeface="+mn-lt"/>
                <a:cs typeface="+mn-lt"/>
              </a:rPr>
              <a:t>tín</a:t>
            </a:r>
            <a:r>
              <a:rPr lang="en-US" sz="2200" dirty="0">
                <a:latin typeface="Calibri"/>
                <a:ea typeface="+mn-lt"/>
                <a:cs typeface="+mn-lt"/>
              </a:rPr>
              <a:t> </a:t>
            </a:r>
            <a:r>
              <a:rPr lang="en-US" sz="2200" dirty="0" err="1">
                <a:latin typeface="Calibri"/>
                <a:ea typeface="+mn-lt"/>
                <a:cs typeface="+mn-lt"/>
              </a:rPr>
              <a:t>chỉ</a:t>
            </a:r>
            <a:r>
              <a:rPr lang="en-US" sz="2200" dirty="0">
                <a:latin typeface="Calibri"/>
                <a:ea typeface="+mn-lt"/>
                <a:cs typeface="+mn-lt"/>
              </a:rPr>
              <a:t>.</a:t>
            </a:r>
            <a:endParaRPr lang="en-US" sz="2200" dirty="0">
              <a:latin typeface="Calibri"/>
              <a:ea typeface="Calibri"/>
              <a:cs typeface="Calibri"/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en-US" sz="2200" dirty="0">
                <a:latin typeface="Calibri"/>
                <a:ea typeface="Calibri"/>
                <a:cs typeface="Calibri"/>
              </a:rPr>
              <a:t>KY_THI</a:t>
            </a:r>
            <a:r>
              <a:rPr lang="en-US" sz="2200" dirty="0">
                <a:latin typeface="Calibri"/>
                <a:ea typeface="+mn-lt"/>
                <a:cs typeface="+mn-lt"/>
              </a:rPr>
              <a:t>: </a:t>
            </a:r>
            <a:r>
              <a:rPr lang="en-US" sz="2200" dirty="0" err="1">
                <a:latin typeface="Calibri"/>
                <a:ea typeface="+mn-lt"/>
                <a:cs typeface="+mn-lt"/>
              </a:rPr>
              <a:t>Lịch</a:t>
            </a:r>
            <a:r>
              <a:rPr lang="en-US" sz="2200" dirty="0">
                <a:latin typeface="Calibri"/>
                <a:ea typeface="+mn-lt"/>
                <a:cs typeface="+mn-lt"/>
              </a:rPr>
              <a:t> </a:t>
            </a:r>
            <a:r>
              <a:rPr lang="en-US" sz="2200" dirty="0" err="1">
                <a:latin typeface="Calibri"/>
                <a:ea typeface="+mn-lt"/>
                <a:cs typeface="+mn-lt"/>
              </a:rPr>
              <a:t>thi</a:t>
            </a:r>
            <a:r>
              <a:rPr lang="en-US" sz="2200" dirty="0">
                <a:latin typeface="Calibri"/>
                <a:ea typeface="+mn-lt"/>
                <a:cs typeface="+mn-lt"/>
              </a:rPr>
              <a:t>, </a:t>
            </a:r>
            <a:r>
              <a:rPr lang="en-US" sz="2200" dirty="0" err="1">
                <a:latin typeface="Calibri"/>
                <a:ea typeface="+mn-lt"/>
                <a:cs typeface="+mn-lt"/>
              </a:rPr>
              <a:t>giờ</a:t>
            </a:r>
            <a:r>
              <a:rPr lang="en-US" sz="2200" dirty="0">
                <a:latin typeface="Calibri"/>
                <a:ea typeface="+mn-lt"/>
                <a:cs typeface="+mn-lt"/>
              </a:rPr>
              <a:t> </a:t>
            </a:r>
            <a:r>
              <a:rPr lang="en-US" sz="2200" dirty="0" err="1">
                <a:latin typeface="Calibri"/>
                <a:ea typeface="+mn-lt"/>
                <a:cs typeface="+mn-lt"/>
              </a:rPr>
              <a:t>thi</a:t>
            </a:r>
            <a:r>
              <a:rPr lang="en-US" sz="2200" dirty="0">
                <a:latin typeface="Calibri"/>
                <a:ea typeface="+mn-lt"/>
                <a:cs typeface="+mn-lt"/>
              </a:rPr>
              <a:t>, </a:t>
            </a:r>
            <a:r>
              <a:rPr lang="en-US" sz="2200" dirty="0" err="1">
                <a:latin typeface="Calibri"/>
                <a:ea typeface="+mn-lt"/>
                <a:cs typeface="+mn-lt"/>
              </a:rPr>
              <a:t>phòng</a:t>
            </a:r>
            <a:r>
              <a:rPr lang="en-US" sz="2200" dirty="0">
                <a:latin typeface="Calibri"/>
                <a:ea typeface="+mn-lt"/>
                <a:cs typeface="+mn-lt"/>
              </a:rPr>
              <a:t> </a:t>
            </a:r>
            <a:r>
              <a:rPr lang="en-US" sz="2200" dirty="0" err="1">
                <a:latin typeface="Calibri"/>
                <a:ea typeface="+mn-lt"/>
                <a:cs typeface="+mn-lt"/>
              </a:rPr>
              <a:t>thi</a:t>
            </a:r>
            <a:r>
              <a:rPr lang="en-US" sz="2200" dirty="0">
                <a:latin typeface="Calibri"/>
                <a:ea typeface="+mn-lt"/>
                <a:cs typeface="+mn-lt"/>
              </a:rPr>
              <a:t>.</a:t>
            </a:r>
            <a:endParaRPr lang="en-US" sz="2200" dirty="0">
              <a:latin typeface="Calibri"/>
              <a:ea typeface="Calibri"/>
              <a:cs typeface="Calibri"/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en-US" sz="2200" dirty="0">
                <a:latin typeface="Calibri"/>
                <a:ea typeface="Calibri"/>
                <a:cs typeface="Calibri"/>
              </a:rPr>
              <a:t>LOP_HOC</a:t>
            </a:r>
            <a:r>
              <a:rPr lang="en-US" sz="2200" dirty="0">
                <a:latin typeface="Calibri"/>
                <a:ea typeface="+mn-lt"/>
                <a:cs typeface="+mn-lt"/>
              </a:rPr>
              <a:t>: </a:t>
            </a:r>
            <a:r>
              <a:rPr lang="en-US" sz="2200" dirty="0" err="1">
                <a:latin typeface="Calibri"/>
                <a:ea typeface="+mn-lt"/>
                <a:cs typeface="+mn-lt"/>
              </a:rPr>
              <a:t>Lớp</a:t>
            </a:r>
            <a:r>
              <a:rPr lang="en-US" sz="2200" dirty="0">
                <a:latin typeface="Calibri"/>
                <a:ea typeface="+mn-lt"/>
                <a:cs typeface="+mn-lt"/>
              </a:rPr>
              <a:t> </a:t>
            </a:r>
            <a:r>
              <a:rPr lang="en-US" sz="2200" dirty="0" err="1">
                <a:latin typeface="Calibri"/>
                <a:ea typeface="+mn-lt"/>
                <a:cs typeface="+mn-lt"/>
              </a:rPr>
              <a:t>học</a:t>
            </a:r>
            <a:r>
              <a:rPr lang="en-US" sz="2200" dirty="0">
                <a:latin typeface="Calibri"/>
                <a:ea typeface="+mn-lt"/>
                <a:cs typeface="+mn-lt"/>
              </a:rPr>
              <a:t> </a:t>
            </a:r>
            <a:r>
              <a:rPr lang="en-US" sz="2200" dirty="0" err="1">
                <a:latin typeface="Calibri"/>
                <a:ea typeface="+mn-lt"/>
                <a:cs typeface="+mn-lt"/>
              </a:rPr>
              <a:t>phần</a:t>
            </a:r>
            <a:r>
              <a:rPr lang="en-US" sz="2200" dirty="0">
                <a:latin typeface="Calibri"/>
                <a:ea typeface="+mn-lt"/>
                <a:cs typeface="+mn-lt"/>
              </a:rPr>
              <a:t>, </a:t>
            </a:r>
            <a:r>
              <a:rPr lang="en-US" sz="2200" dirty="0" err="1">
                <a:latin typeface="Calibri"/>
                <a:ea typeface="+mn-lt"/>
                <a:cs typeface="+mn-lt"/>
              </a:rPr>
              <a:t>giảng</a:t>
            </a:r>
            <a:r>
              <a:rPr lang="en-US" sz="2200" dirty="0">
                <a:latin typeface="Calibri"/>
                <a:ea typeface="+mn-lt"/>
                <a:cs typeface="+mn-lt"/>
              </a:rPr>
              <a:t> </a:t>
            </a:r>
            <a:r>
              <a:rPr lang="en-US" sz="2200" dirty="0" err="1">
                <a:latin typeface="Calibri"/>
                <a:ea typeface="+mn-lt"/>
                <a:cs typeface="+mn-lt"/>
              </a:rPr>
              <a:t>viên</a:t>
            </a:r>
            <a:r>
              <a:rPr lang="en-US" sz="2200" dirty="0">
                <a:latin typeface="Calibri"/>
                <a:ea typeface="+mn-lt"/>
                <a:cs typeface="+mn-lt"/>
              </a:rPr>
              <a:t> </a:t>
            </a:r>
            <a:r>
              <a:rPr lang="en-US" sz="2200" dirty="0" err="1">
                <a:latin typeface="Calibri"/>
                <a:ea typeface="+mn-lt"/>
                <a:cs typeface="+mn-lt"/>
              </a:rPr>
              <a:t>phụ</a:t>
            </a:r>
            <a:r>
              <a:rPr lang="en-US" sz="2200" dirty="0">
                <a:latin typeface="Calibri"/>
                <a:ea typeface="+mn-lt"/>
                <a:cs typeface="+mn-lt"/>
              </a:rPr>
              <a:t> </a:t>
            </a:r>
            <a:r>
              <a:rPr lang="en-US" sz="2200" dirty="0" err="1">
                <a:latin typeface="Calibri"/>
                <a:ea typeface="+mn-lt"/>
                <a:cs typeface="+mn-lt"/>
              </a:rPr>
              <a:t>trách</a:t>
            </a:r>
            <a:r>
              <a:rPr lang="en-US" sz="2200" dirty="0">
                <a:latin typeface="Calibri"/>
                <a:ea typeface="+mn-lt"/>
                <a:cs typeface="+mn-lt"/>
              </a:rPr>
              <a:t>.</a:t>
            </a:r>
            <a:endParaRPr lang="en-US" sz="2200" dirty="0">
              <a:latin typeface="Calibri"/>
              <a:ea typeface="Calibri"/>
              <a:cs typeface="Calibri"/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en-US" sz="2200" dirty="0">
                <a:latin typeface="Calibri"/>
                <a:ea typeface="Calibri"/>
                <a:cs typeface="Calibri"/>
              </a:rPr>
              <a:t>DIEM_THI</a:t>
            </a:r>
            <a:r>
              <a:rPr lang="en-US" sz="2200" dirty="0">
                <a:latin typeface="Calibri"/>
                <a:ea typeface="+mn-lt"/>
                <a:cs typeface="+mn-lt"/>
              </a:rPr>
              <a:t>: </a:t>
            </a:r>
            <a:r>
              <a:rPr lang="en-US" sz="2200" dirty="0" err="1">
                <a:latin typeface="Calibri"/>
                <a:ea typeface="+mn-lt"/>
                <a:cs typeface="+mn-lt"/>
              </a:rPr>
              <a:t>Điểm</a:t>
            </a:r>
            <a:r>
              <a:rPr lang="en-US" sz="2200" dirty="0">
                <a:latin typeface="Calibri"/>
                <a:ea typeface="+mn-lt"/>
                <a:cs typeface="+mn-lt"/>
              </a:rPr>
              <a:t> </a:t>
            </a:r>
            <a:r>
              <a:rPr lang="en-US" sz="2200" dirty="0" err="1">
                <a:latin typeface="Calibri"/>
                <a:ea typeface="+mn-lt"/>
                <a:cs typeface="+mn-lt"/>
              </a:rPr>
              <a:t>số</a:t>
            </a:r>
            <a:r>
              <a:rPr lang="en-US" sz="2200" dirty="0">
                <a:latin typeface="Calibri"/>
                <a:ea typeface="+mn-lt"/>
                <a:cs typeface="+mn-lt"/>
              </a:rPr>
              <a:t>, </a:t>
            </a:r>
            <a:r>
              <a:rPr lang="en-US" sz="2200" dirty="0" err="1">
                <a:latin typeface="Calibri"/>
                <a:ea typeface="+mn-lt"/>
                <a:cs typeface="+mn-lt"/>
              </a:rPr>
              <a:t>xếp</a:t>
            </a:r>
            <a:r>
              <a:rPr lang="en-US" sz="2200" dirty="0">
                <a:latin typeface="Calibri"/>
                <a:ea typeface="+mn-lt"/>
                <a:cs typeface="+mn-lt"/>
              </a:rPr>
              <a:t> </a:t>
            </a:r>
            <a:r>
              <a:rPr lang="en-US" sz="2200" dirty="0" err="1">
                <a:latin typeface="Calibri"/>
                <a:ea typeface="+mn-lt"/>
                <a:cs typeface="+mn-lt"/>
              </a:rPr>
              <a:t>loại</a:t>
            </a:r>
            <a:r>
              <a:rPr lang="en-US" sz="2200" dirty="0">
                <a:latin typeface="Calibri"/>
                <a:ea typeface="+mn-lt"/>
                <a:cs typeface="+mn-lt"/>
              </a:rPr>
              <a:t>, </a:t>
            </a:r>
            <a:r>
              <a:rPr lang="en-US" sz="2200" dirty="0" err="1">
                <a:latin typeface="Calibri"/>
                <a:ea typeface="+mn-lt"/>
                <a:cs typeface="+mn-lt"/>
              </a:rPr>
              <a:t>ghi</a:t>
            </a:r>
            <a:r>
              <a:rPr lang="en-US" sz="2200" dirty="0">
                <a:latin typeface="Calibri"/>
                <a:ea typeface="+mn-lt"/>
                <a:cs typeface="+mn-lt"/>
              </a:rPr>
              <a:t> </a:t>
            </a:r>
            <a:r>
              <a:rPr lang="en-US" sz="2200" dirty="0" err="1">
                <a:latin typeface="Calibri"/>
                <a:ea typeface="+mn-lt"/>
                <a:cs typeface="+mn-lt"/>
              </a:rPr>
              <a:t>chú</a:t>
            </a:r>
            <a:r>
              <a:rPr lang="en-US" sz="2200" dirty="0">
                <a:latin typeface="Calibri"/>
                <a:ea typeface="+mn-lt"/>
                <a:cs typeface="+mn-lt"/>
              </a:rPr>
              <a:t>.</a:t>
            </a:r>
            <a:endParaRPr lang="en-US" sz="2200" dirty="0">
              <a:latin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635DDC-4308-923D-EA04-583978E05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6481" y="1854995"/>
            <a:ext cx="6073117" cy="3148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303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550F5B9-399F-4FAD-AE6C-ED65F9A43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062E60F-5CD4-4268-8359-807663468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288350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89B697-C6A1-9834-803C-D0F73D516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10047"/>
            <a:ext cx="3300984" cy="1645920"/>
          </a:xfrm>
        </p:spPr>
        <p:txBody>
          <a:bodyPr>
            <a:normAutofit/>
          </a:bodyPr>
          <a:lstStyle/>
          <a:p>
            <a:r>
              <a:rPr lang="en-US" sz="3200" dirty="0" err="1">
                <a:latin typeface="Calibri"/>
                <a:ea typeface="+mj-lt"/>
                <a:cs typeface="+mj-lt"/>
              </a:rPr>
              <a:t>Thiết</a:t>
            </a:r>
            <a:r>
              <a:rPr lang="en-US" sz="3200" dirty="0">
                <a:latin typeface="Calibri"/>
                <a:ea typeface="+mj-lt"/>
                <a:cs typeface="+mj-lt"/>
              </a:rPr>
              <a:t> </a:t>
            </a:r>
            <a:r>
              <a:rPr lang="en-US" sz="3200" dirty="0" err="1">
                <a:latin typeface="Calibri"/>
                <a:ea typeface="+mj-lt"/>
                <a:cs typeface="+mj-lt"/>
              </a:rPr>
              <a:t>kế</a:t>
            </a:r>
            <a:r>
              <a:rPr lang="en-US" sz="3200" dirty="0">
                <a:latin typeface="Calibri"/>
                <a:ea typeface="+mj-lt"/>
                <a:cs typeface="+mj-lt"/>
              </a:rPr>
              <a:t> Giao </a:t>
            </a:r>
            <a:r>
              <a:rPr lang="en-US" sz="3200" dirty="0" err="1">
                <a:latin typeface="Calibri"/>
                <a:ea typeface="+mj-lt"/>
                <a:cs typeface="+mj-lt"/>
              </a:rPr>
              <a:t>diện</a:t>
            </a:r>
            <a:r>
              <a:rPr lang="en-US" sz="3200" dirty="0">
                <a:latin typeface="Calibri"/>
                <a:ea typeface="+mj-lt"/>
                <a:cs typeface="+mj-lt"/>
              </a:rPr>
              <a:t> (Wireframe)</a:t>
            </a:r>
            <a:endParaRPr lang="en-US" sz="2800" dirty="0">
              <a:ea typeface="+mj-lt"/>
              <a:cs typeface="+mj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341EC3-1810-4D33-BA3F-E2D0AA0E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980964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127CDE-2B99-47A8-BB3C-7D1751910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10864" y="1323863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3F740-FC47-E485-5872-16A66FA02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144" y="510047"/>
            <a:ext cx="6858000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Calibri" panose="020B0604020202020204" pitchFamily="34" charset="0"/>
              <a:buChar char="-"/>
            </a:pPr>
            <a:r>
              <a:rPr lang="en-US" sz="2100" b="1" dirty="0">
                <a:latin typeface="Calibri"/>
                <a:ea typeface="+mn-lt"/>
                <a:cs typeface="+mn-lt"/>
              </a:rPr>
              <a:t>Trang </a:t>
            </a:r>
            <a:r>
              <a:rPr lang="en-US" sz="2100" b="1" dirty="0" err="1">
                <a:latin typeface="Calibri"/>
                <a:ea typeface="+mn-lt"/>
                <a:cs typeface="+mn-lt"/>
              </a:rPr>
              <a:t>đăng</a:t>
            </a:r>
            <a:r>
              <a:rPr lang="en-US" sz="2100" b="1" dirty="0">
                <a:latin typeface="Calibri"/>
                <a:ea typeface="+mn-lt"/>
                <a:cs typeface="+mn-lt"/>
              </a:rPr>
              <a:t> </a:t>
            </a:r>
            <a:r>
              <a:rPr lang="en-US" sz="2100" b="1" dirty="0" err="1">
                <a:latin typeface="Calibri"/>
                <a:ea typeface="+mn-lt"/>
                <a:cs typeface="+mn-lt"/>
              </a:rPr>
              <a:t>nhập</a:t>
            </a:r>
            <a:r>
              <a:rPr lang="en-US" sz="2100" b="1" dirty="0">
                <a:latin typeface="Calibri"/>
                <a:ea typeface="+mn-lt"/>
                <a:cs typeface="+mn-lt"/>
              </a:rPr>
              <a:t>:</a:t>
            </a:r>
            <a:r>
              <a:rPr lang="en-US" sz="2100" dirty="0">
                <a:latin typeface="Calibri"/>
                <a:ea typeface="+mn-lt"/>
                <a:cs typeface="+mn-lt"/>
              </a:rPr>
              <a:t> </a:t>
            </a:r>
            <a:r>
              <a:rPr lang="en-US" sz="2100" dirty="0" err="1">
                <a:latin typeface="Calibri"/>
                <a:ea typeface="+mn-lt"/>
                <a:cs typeface="+mn-lt"/>
              </a:rPr>
              <a:t>Đơn</a:t>
            </a:r>
            <a:r>
              <a:rPr lang="en-US" sz="2100" dirty="0">
                <a:latin typeface="Calibri"/>
                <a:ea typeface="+mn-lt"/>
                <a:cs typeface="+mn-lt"/>
              </a:rPr>
              <a:t> </a:t>
            </a:r>
            <a:r>
              <a:rPr lang="en-US" sz="2100" dirty="0" err="1">
                <a:latin typeface="Calibri"/>
                <a:ea typeface="+mn-lt"/>
                <a:cs typeface="+mn-lt"/>
              </a:rPr>
              <a:t>giản</a:t>
            </a:r>
            <a:r>
              <a:rPr lang="en-US" sz="2100" dirty="0">
                <a:latin typeface="Calibri"/>
                <a:ea typeface="+mn-lt"/>
                <a:cs typeface="+mn-lt"/>
              </a:rPr>
              <a:t>, </a:t>
            </a:r>
            <a:r>
              <a:rPr lang="en-US" sz="2100" dirty="0" err="1">
                <a:latin typeface="Calibri"/>
                <a:ea typeface="+mn-lt"/>
                <a:cs typeface="+mn-lt"/>
              </a:rPr>
              <a:t>tập</a:t>
            </a:r>
            <a:r>
              <a:rPr lang="en-US" sz="2100" dirty="0">
                <a:latin typeface="Calibri"/>
                <a:ea typeface="+mn-lt"/>
                <a:cs typeface="+mn-lt"/>
              </a:rPr>
              <a:t> </a:t>
            </a:r>
            <a:r>
              <a:rPr lang="en-US" sz="2100" dirty="0" err="1">
                <a:latin typeface="Calibri"/>
                <a:ea typeface="+mn-lt"/>
                <a:cs typeface="+mn-lt"/>
              </a:rPr>
              <a:t>trung</a:t>
            </a:r>
            <a:r>
              <a:rPr lang="en-US" sz="2100" dirty="0">
                <a:latin typeface="Calibri"/>
                <a:ea typeface="+mn-lt"/>
                <a:cs typeface="+mn-lt"/>
              </a:rPr>
              <a:t> </a:t>
            </a:r>
            <a:r>
              <a:rPr lang="en-US" sz="2100" dirty="0" err="1">
                <a:latin typeface="Calibri"/>
                <a:ea typeface="+mn-lt"/>
                <a:cs typeface="+mn-lt"/>
              </a:rPr>
              <a:t>vào</a:t>
            </a:r>
            <a:r>
              <a:rPr lang="en-US" sz="2100" dirty="0">
                <a:latin typeface="Calibri"/>
                <a:ea typeface="+mn-lt"/>
                <a:cs typeface="+mn-lt"/>
              </a:rPr>
              <a:t> form </a:t>
            </a:r>
            <a:r>
              <a:rPr lang="en-US" sz="2100" dirty="0" err="1">
                <a:latin typeface="Calibri"/>
                <a:ea typeface="+mn-lt"/>
                <a:cs typeface="+mn-lt"/>
              </a:rPr>
              <a:t>điền</a:t>
            </a:r>
            <a:r>
              <a:rPr lang="en-US" sz="2100" dirty="0">
                <a:latin typeface="Calibri"/>
                <a:ea typeface="+mn-lt"/>
                <a:cs typeface="+mn-lt"/>
              </a:rPr>
              <a:t> </a:t>
            </a:r>
            <a:r>
              <a:rPr lang="en-US" sz="2100" dirty="0" err="1">
                <a:latin typeface="Calibri"/>
                <a:ea typeface="+mn-lt"/>
                <a:cs typeface="+mn-lt"/>
              </a:rPr>
              <a:t>thông</a:t>
            </a:r>
            <a:r>
              <a:rPr lang="en-US" sz="2100" dirty="0">
                <a:latin typeface="Calibri"/>
                <a:ea typeface="+mn-lt"/>
                <a:cs typeface="+mn-lt"/>
              </a:rPr>
              <a:t> tin.</a:t>
            </a:r>
            <a:endParaRPr lang="en-US" sz="2100">
              <a:latin typeface="Calibri"/>
              <a:ea typeface="Calibri"/>
              <a:cs typeface="Calibri"/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en-US" sz="2100" b="1" dirty="0">
                <a:latin typeface="Calibri"/>
                <a:ea typeface="+mn-lt"/>
                <a:cs typeface="+mn-lt"/>
              </a:rPr>
              <a:t>Dashboard Admin:</a:t>
            </a:r>
            <a:r>
              <a:rPr lang="en-US" sz="2100" dirty="0">
                <a:latin typeface="Calibri"/>
                <a:ea typeface="+mn-lt"/>
                <a:cs typeface="+mn-lt"/>
              </a:rPr>
              <a:t> Hiển </a:t>
            </a:r>
            <a:r>
              <a:rPr lang="en-US" sz="2100" dirty="0" err="1">
                <a:latin typeface="Calibri"/>
                <a:ea typeface="+mn-lt"/>
                <a:cs typeface="+mn-lt"/>
              </a:rPr>
              <a:t>thị</a:t>
            </a:r>
            <a:r>
              <a:rPr lang="en-US" sz="2100" dirty="0">
                <a:latin typeface="Calibri"/>
                <a:ea typeface="+mn-lt"/>
                <a:cs typeface="+mn-lt"/>
              </a:rPr>
              <a:t> </a:t>
            </a:r>
            <a:r>
              <a:rPr lang="en-US" sz="2100" dirty="0" err="1">
                <a:latin typeface="Calibri"/>
                <a:ea typeface="+mn-lt"/>
                <a:cs typeface="+mn-lt"/>
              </a:rPr>
              <a:t>các</a:t>
            </a:r>
            <a:r>
              <a:rPr lang="en-US" sz="2100" dirty="0">
                <a:latin typeface="Calibri"/>
                <a:ea typeface="+mn-lt"/>
                <a:cs typeface="+mn-lt"/>
              </a:rPr>
              <a:t> </a:t>
            </a:r>
            <a:r>
              <a:rPr lang="en-US" sz="2100" dirty="0" err="1">
                <a:latin typeface="Calibri"/>
                <a:ea typeface="+mn-lt"/>
                <a:cs typeface="+mn-lt"/>
              </a:rPr>
              <a:t>thẻ</a:t>
            </a:r>
            <a:r>
              <a:rPr lang="en-US" sz="2100" dirty="0">
                <a:latin typeface="Calibri"/>
                <a:ea typeface="+mn-lt"/>
                <a:cs typeface="+mn-lt"/>
              </a:rPr>
              <a:t> </a:t>
            </a:r>
            <a:r>
              <a:rPr lang="en-US" sz="2100" dirty="0" err="1">
                <a:latin typeface="Calibri"/>
                <a:ea typeface="+mn-lt"/>
                <a:cs typeface="+mn-lt"/>
              </a:rPr>
              <a:t>thống</a:t>
            </a:r>
            <a:r>
              <a:rPr lang="en-US" sz="2100" dirty="0">
                <a:latin typeface="Calibri"/>
                <a:ea typeface="+mn-lt"/>
                <a:cs typeface="+mn-lt"/>
              </a:rPr>
              <a:t> </a:t>
            </a:r>
            <a:r>
              <a:rPr lang="en-US" sz="2100" dirty="0" err="1">
                <a:latin typeface="Calibri"/>
                <a:ea typeface="+mn-lt"/>
                <a:cs typeface="+mn-lt"/>
              </a:rPr>
              <a:t>kê</a:t>
            </a:r>
            <a:r>
              <a:rPr lang="en-US" sz="2100" dirty="0">
                <a:latin typeface="Calibri"/>
                <a:ea typeface="+mn-lt"/>
                <a:cs typeface="+mn-lt"/>
              </a:rPr>
              <a:t> </a:t>
            </a:r>
            <a:r>
              <a:rPr lang="en-US" sz="2100" dirty="0" err="1">
                <a:latin typeface="Calibri"/>
                <a:ea typeface="+mn-lt"/>
                <a:cs typeface="+mn-lt"/>
              </a:rPr>
              <a:t>tổng</a:t>
            </a:r>
            <a:r>
              <a:rPr lang="en-US" sz="2100" dirty="0">
                <a:latin typeface="Calibri"/>
                <a:ea typeface="+mn-lt"/>
                <a:cs typeface="+mn-lt"/>
              </a:rPr>
              <a:t> </a:t>
            </a:r>
            <a:r>
              <a:rPr lang="en-US" sz="2100" dirty="0" err="1">
                <a:latin typeface="Calibri"/>
                <a:ea typeface="+mn-lt"/>
                <a:cs typeface="+mn-lt"/>
              </a:rPr>
              <a:t>quan</a:t>
            </a:r>
            <a:r>
              <a:rPr lang="en-US" sz="2100" dirty="0">
                <a:latin typeface="Calibri"/>
                <a:ea typeface="+mn-lt"/>
                <a:cs typeface="+mn-lt"/>
              </a:rPr>
              <a:t>.</a:t>
            </a:r>
            <a:endParaRPr lang="en-US" sz="2100">
              <a:latin typeface="Calibri"/>
              <a:ea typeface="Calibri"/>
              <a:cs typeface="Calibri"/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en-US" sz="2100" b="1" dirty="0">
                <a:latin typeface="Calibri"/>
                <a:ea typeface="+mn-lt"/>
                <a:cs typeface="+mn-lt"/>
              </a:rPr>
              <a:t>Trang </a:t>
            </a:r>
            <a:r>
              <a:rPr lang="en-US" sz="2100" b="1" dirty="0" err="1">
                <a:latin typeface="Calibri"/>
                <a:ea typeface="+mn-lt"/>
                <a:cs typeface="+mn-lt"/>
              </a:rPr>
              <a:t>tra</a:t>
            </a:r>
            <a:r>
              <a:rPr lang="en-US" sz="2100" b="1" dirty="0">
                <a:latin typeface="Calibri"/>
                <a:ea typeface="+mn-lt"/>
                <a:cs typeface="+mn-lt"/>
              </a:rPr>
              <a:t> </a:t>
            </a:r>
            <a:r>
              <a:rPr lang="en-US" sz="2100" b="1" dirty="0" err="1">
                <a:latin typeface="Calibri"/>
                <a:ea typeface="+mn-lt"/>
                <a:cs typeface="+mn-lt"/>
              </a:rPr>
              <a:t>cứu</a:t>
            </a:r>
            <a:r>
              <a:rPr lang="en-US" sz="2100" b="1" dirty="0">
                <a:latin typeface="Calibri"/>
                <a:ea typeface="+mn-lt"/>
                <a:cs typeface="+mn-lt"/>
              </a:rPr>
              <a:t>:</a:t>
            </a:r>
            <a:r>
              <a:rPr lang="en-US" sz="2100" dirty="0">
                <a:latin typeface="Calibri"/>
                <a:ea typeface="+mn-lt"/>
                <a:cs typeface="+mn-lt"/>
              </a:rPr>
              <a:t> Hiển </a:t>
            </a:r>
            <a:r>
              <a:rPr lang="en-US" sz="2100" dirty="0" err="1">
                <a:latin typeface="Calibri"/>
                <a:ea typeface="+mn-lt"/>
                <a:cs typeface="+mn-lt"/>
              </a:rPr>
              <a:t>thị</a:t>
            </a:r>
            <a:r>
              <a:rPr lang="en-US" sz="2100" dirty="0">
                <a:latin typeface="Calibri"/>
                <a:ea typeface="+mn-lt"/>
                <a:cs typeface="+mn-lt"/>
              </a:rPr>
              <a:t> </a:t>
            </a:r>
            <a:r>
              <a:rPr lang="en-US" sz="2100" dirty="0" err="1">
                <a:latin typeface="Calibri"/>
                <a:ea typeface="+mn-lt"/>
                <a:cs typeface="+mn-lt"/>
              </a:rPr>
              <a:t>lịch</a:t>
            </a:r>
            <a:r>
              <a:rPr lang="en-US" sz="2100" dirty="0">
                <a:latin typeface="Calibri"/>
                <a:ea typeface="+mn-lt"/>
                <a:cs typeface="+mn-lt"/>
              </a:rPr>
              <a:t> </a:t>
            </a:r>
            <a:r>
              <a:rPr lang="en-US" sz="2100" dirty="0" err="1">
                <a:latin typeface="Calibri"/>
                <a:ea typeface="+mn-lt"/>
                <a:cs typeface="+mn-lt"/>
              </a:rPr>
              <a:t>sử</a:t>
            </a:r>
            <a:r>
              <a:rPr lang="en-US" sz="2100" dirty="0">
                <a:latin typeface="Calibri"/>
                <a:ea typeface="+mn-lt"/>
                <a:cs typeface="+mn-lt"/>
              </a:rPr>
              <a:t> </a:t>
            </a:r>
            <a:r>
              <a:rPr lang="en-US" sz="2100" dirty="0" err="1">
                <a:latin typeface="Calibri"/>
                <a:ea typeface="+mn-lt"/>
                <a:cs typeface="+mn-lt"/>
              </a:rPr>
              <a:t>và</a:t>
            </a:r>
            <a:r>
              <a:rPr lang="en-US" sz="2100" dirty="0">
                <a:latin typeface="Calibri"/>
                <a:ea typeface="+mn-lt"/>
                <a:cs typeface="+mn-lt"/>
              </a:rPr>
              <a:t> </a:t>
            </a:r>
            <a:r>
              <a:rPr lang="en-US" sz="2100" dirty="0" err="1">
                <a:latin typeface="Calibri"/>
                <a:ea typeface="+mn-lt"/>
                <a:cs typeface="+mn-lt"/>
              </a:rPr>
              <a:t>kết</a:t>
            </a:r>
            <a:r>
              <a:rPr lang="en-US" sz="2100" dirty="0">
                <a:latin typeface="Calibri"/>
                <a:ea typeface="+mn-lt"/>
                <a:cs typeface="+mn-lt"/>
              </a:rPr>
              <a:t> </a:t>
            </a:r>
            <a:r>
              <a:rPr lang="en-US" sz="2100" dirty="0" err="1">
                <a:latin typeface="Calibri"/>
                <a:ea typeface="+mn-lt"/>
                <a:cs typeface="+mn-lt"/>
              </a:rPr>
              <a:t>quả</a:t>
            </a:r>
            <a:r>
              <a:rPr lang="en-US" sz="2100" dirty="0">
                <a:latin typeface="Calibri"/>
                <a:ea typeface="+mn-lt"/>
                <a:cs typeface="+mn-lt"/>
              </a:rPr>
              <a:t> </a:t>
            </a:r>
            <a:r>
              <a:rPr lang="en-US" sz="2100" dirty="0" err="1">
                <a:latin typeface="Calibri"/>
                <a:ea typeface="+mn-lt"/>
                <a:cs typeface="+mn-lt"/>
              </a:rPr>
              <a:t>thi</a:t>
            </a:r>
            <a:r>
              <a:rPr lang="en-US" sz="2100" dirty="0">
                <a:latin typeface="Calibri"/>
                <a:ea typeface="+mn-lt"/>
                <a:cs typeface="+mn-lt"/>
              </a:rPr>
              <a:t> chi </a:t>
            </a:r>
            <a:r>
              <a:rPr lang="en-US" sz="2100" dirty="0" err="1">
                <a:latin typeface="Calibri"/>
                <a:ea typeface="+mn-lt"/>
                <a:cs typeface="+mn-lt"/>
              </a:rPr>
              <a:t>tiết</a:t>
            </a:r>
            <a:endParaRPr lang="en-US" sz="2100" dirty="0" err="1">
              <a:latin typeface="Calibri"/>
              <a:ea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CE7C8B-650F-2B75-ED66-97B30B433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3297017"/>
            <a:ext cx="3584448" cy="22582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9C545E-4D51-7026-27D1-AF7916428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599" y="3385472"/>
            <a:ext cx="3584448" cy="20812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8D4626-F735-ACE2-D8A4-DF5B617D48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7415" y="3404550"/>
            <a:ext cx="3584448" cy="204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254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0B8CEB-8279-4E5E-A0CE-1FC9F7173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782" y="0"/>
            <a:ext cx="7421217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C2A941-A44E-928A-438B-602E3A068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675" y="382137"/>
            <a:ext cx="5669597" cy="1330839"/>
          </a:xfrm>
        </p:spPr>
        <p:txBody>
          <a:bodyPr>
            <a:normAutofit/>
          </a:bodyPr>
          <a:lstStyle/>
          <a:p>
            <a:r>
              <a:rPr lang="en-US" sz="3200" b="1">
                <a:latin typeface="Calibri"/>
                <a:ea typeface="+mj-lt"/>
                <a:cs typeface="+mj-lt"/>
              </a:rPr>
              <a:t>KẾT QUẢ &amp; HƯỚNG PHÁT TRIỂN</a:t>
            </a:r>
            <a:endParaRPr lang="en-US" sz="3200" b="1">
              <a:latin typeface="Calibri"/>
            </a:endParaRPr>
          </a:p>
        </p:txBody>
      </p:sp>
      <p:pic>
        <p:nvPicPr>
          <p:cNvPr id="4" name="Content Placeholder 3" descr="Hình ảnh Doanh Nhân Hoạt Hình Giảng Dạy Chi Tiết Dự án Huấn Luyện Viên Theo  Phong Cách Bị Cô Lập Với Nền Trong Suốt PNG , Huấn Luyện Chuyên Nghiệp, Phim">
            <a:extLst>
              <a:ext uri="{FF2B5EF4-FFF2-40B4-BE49-F238E27FC236}">
                <a16:creationId xmlns:a16="http://schemas.microsoft.com/office/drawing/2014/main" id="{99212640-4258-94F6-52DD-C33E1E0194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33" r="11" b="11"/>
          <a:stretch>
            <a:fillRect/>
          </a:stretch>
        </p:blipFill>
        <p:spPr>
          <a:xfrm>
            <a:off x="20" y="10"/>
            <a:ext cx="6526398" cy="6482677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CDC0313-2B1A-F7C1-FE2E-6C64C4C6F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0465" y="2194102"/>
            <a:ext cx="4140013" cy="390858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Calibri"/>
                <a:ea typeface="+mn-lt"/>
                <a:cs typeface="+mn-lt"/>
              </a:rPr>
              <a:t>Demo </a:t>
            </a:r>
            <a:endParaRPr lang="en-US" b="1" dirty="0">
              <a:latin typeface="Calibri"/>
              <a:ea typeface="Calibri"/>
              <a:cs typeface="Calibri"/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en-US" dirty="0">
                <a:latin typeface="Calibri"/>
                <a:ea typeface="+mn-lt"/>
                <a:cs typeface="+mn-lt"/>
              </a:rPr>
              <a:t>Giao </a:t>
            </a:r>
            <a:r>
              <a:rPr lang="en-US" dirty="0" err="1">
                <a:latin typeface="Calibri"/>
                <a:ea typeface="+mn-lt"/>
                <a:cs typeface="+mn-lt"/>
              </a:rPr>
              <a:t>diện</a:t>
            </a:r>
            <a:r>
              <a:rPr lang="en-US" dirty="0">
                <a:latin typeface="Calibri"/>
                <a:ea typeface="+mn-lt"/>
                <a:cs typeface="+mn-lt"/>
              </a:rPr>
              <a:t> Admin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dirty="0">
                <a:latin typeface="Calibri"/>
                <a:ea typeface="+mn-lt"/>
                <a:cs typeface="+mn-lt"/>
              </a:rPr>
              <a:t>Giao </a:t>
            </a:r>
            <a:r>
              <a:rPr lang="en-US" dirty="0" err="1">
                <a:latin typeface="Calibri"/>
                <a:ea typeface="+mn-lt"/>
                <a:cs typeface="+mn-lt"/>
              </a:rPr>
              <a:t>diện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Giáo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viên</a:t>
            </a:r>
            <a:endParaRPr lang="en-US" dirty="0">
              <a:latin typeface="Calibri"/>
              <a:ea typeface="+mn-lt"/>
              <a:cs typeface="+mn-lt"/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en-US" dirty="0">
                <a:latin typeface="Calibri"/>
                <a:ea typeface="Calibri"/>
                <a:cs typeface="Calibri"/>
              </a:rPr>
              <a:t>Giao </a:t>
            </a:r>
            <a:r>
              <a:rPr lang="en-US" dirty="0" err="1">
                <a:latin typeface="Calibri"/>
                <a:ea typeface="Calibri"/>
                <a:cs typeface="Calibri"/>
              </a:rPr>
              <a:t>diện</a:t>
            </a:r>
            <a:r>
              <a:rPr lang="en-US" dirty="0">
                <a:latin typeface="Calibri"/>
                <a:ea typeface="Calibri"/>
                <a:cs typeface="Calibri"/>
              </a:rPr>
              <a:t> Học </a:t>
            </a:r>
            <a:r>
              <a:rPr lang="en-US" dirty="0" err="1">
                <a:latin typeface="Calibri"/>
                <a:ea typeface="Calibri"/>
                <a:cs typeface="Calibri"/>
              </a:rPr>
              <a:t>viên</a:t>
            </a:r>
            <a:endParaRPr lang="en-US" sz="2000" dirty="0">
              <a:latin typeface="Calibri"/>
              <a:ea typeface="Calibri"/>
              <a:cs typeface="Calibri"/>
            </a:endParaRPr>
          </a:p>
          <a:p>
            <a:pPr>
              <a:buFont typeface="Calibri" panose="020B0604020202020204" pitchFamily="34" charset="0"/>
              <a:buChar char="-"/>
            </a:pPr>
            <a:endParaRPr lang="en-US" sz="2000" dirty="0"/>
          </a:p>
          <a:p>
            <a:pPr>
              <a:buFont typeface="Calibri" panose="020B0604020202020204" pitchFamily="34" charset="0"/>
              <a:buChar char="-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04527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6D7003-CD64-0185-227A-E66380C43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en-US" sz="3600" dirty="0" err="1">
                <a:solidFill>
                  <a:schemeClr val="tx2"/>
                </a:solidFill>
                <a:latin typeface="Calibri"/>
                <a:ea typeface="+mj-lt"/>
                <a:cs typeface="+mj-lt"/>
              </a:rPr>
              <a:t>Kết</a:t>
            </a:r>
            <a:r>
              <a:rPr lang="en-US" sz="3600" dirty="0">
                <a:solidFill>
                  <a:schemeClr val="tx2"/>
                </a:solidFill>
                <a:latin typeface="Calibri"/>
                <a:ea typeface="+mj-lt"/>
                <a:cs typeface="+mj-lt"/>
              </a:rPr>
              <a:t> </a:t>
            </a:r>
            <a:r>
              <a:rPr lang="en-US" sz="3600" dirty="0" err="1">
                <a:solidFill>
                  <a:schemeClr val="tx2"/>
                </a:solidFill>
                <a:latin typeface="Calibri"/>
                <a:ea typeface="+mj-lt"/>
                <a:cs typeface="+mj-lt"/>
              </a:rPr>
              <a:t>luận</a:t>
            </a:r>
            <a:r>
              <a:rPr lang="en-US" sz="3600" dirty="0">
                <a:solidFill>
                  <a:schemeClr val="tx2"/>
                </a:solidFill>
                <a:latin typeface="Calibri"/>
                <a:ea typeface="+mj-lt"/>
                <a:cs typeface="+mj-lt"/>
              </a:rPr>
              <a:t> &amp; </a:t>
            </a:r>
            <a:r>
              <a:rPr lang="en-US" sz="3600" dirty="0" err="1">
                <a:solidFill>
                  <a:schemeClr val="tx2"/>
                </a:solidFill>
                <a:latin typeface="Calibri"/>
                <a:ea typeface="+mj-lt"/>
                <a:cs typeface="+mj-lt"/>
              </a:rPr>
              <a:t>Hạn</a:t>
            </a:r>
            <a:r>
              <a:rPr lang="en-US" sz="3600" dirty="0">
                <a:solidFill>
                  <a:schemeClr val="tx2"/>
                </a:solidFill>
                <a:latin typeface="Calibri"/>
                <a:ea typeface="+mj-lt"/>
                <a:cs typeface="+mj-lt"/>
              </a:rPr>
              <a:t> </a:t>
            </a:r>
            <a:r>
              <a:rPr lang="en-US" sz="3600" dirty="0" err="1">
                <a:solidFill>
                  <a:schemeClr val="tx2"/>
                </a:solidFill>
                <a:latin typeface="Calibri"/>
                <a:ea typeface="+mj-lt"/>
                <a:cs typeface="+mj-lt"/>
              </a:rPr>
              <a:t>chế</a:t>
            </a:r>
            <a:endParaRPr lang="en-US" sz="3600" dirty="0" err="1">
              <a:solidFill>
                <a:schemeClr val="tx2"/>
              </a:solidFill>
              <a:latin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0C292-ED02-C945-956C-D09C9D2F3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Kết</a:t>
            </a:r>
            <a:r>
              <a:rPr lang="en-US" sz="2000" b="1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b="1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quả</a:t>
            </a:r>
            <a:r>
              <a:rPr lang="en-US" sz="2000" b="1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: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Đã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xây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dựng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thành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công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hệ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thống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website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hoàn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chỉnh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triển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khai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thực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tế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đáp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ứng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các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chức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năng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cơ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bản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.</a:t>
            </a:r>
            <a:endParaRPr lang="en-US" sz="2000">
              <a:solidFill>
                <a:schemeClr val="tx2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000" b="1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Hạn</a:t>
            </a:r>
            <a:r>
              <a:rPr lang="en-US" sz="2000" b="1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b="1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chế</a:t>
            </a:r>
            <a:r>
              <a:rPr lang="en-US" sz="2000" b="1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:</a:t>
            </a:r>
            <a:endParaRPr lang="en-US" sz="2000">
              <a:solidFill>
                <a:schemeClr val="tx2"/>
              </a:solidFill>
              <a:latin typeface="Calibri"/>
              <a:ea typeface="Calibri"/>
              <a:cs typeface="Calibri"/>
            </a:endParaRPr>
          </a:p>
          <a:p>
            <a:pPr>
              <a:buFont typeface="Calibri"/>
              <a:buChar char="-"/>
            </a:pP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Chưa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hoàn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thiện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chức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năng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xuất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báo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cáo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PDF </a:t>
            </a: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chuẩn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.</a:t>
            </a:r>
            <a:endParaRPr lang="en-US" sz="2000">
              <a:solidFill>
                <a:schemeClr val="tx2"/>
              </a:solidFill>
              <a:latin typeface="Calibri"/>
              <a:ea typeface="Calibri"/>
              <a:cs typeface="Calibri"/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Chưa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có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biểu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đồ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thống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kê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trực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quan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chi </a:t>
            </a: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tiết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.</a:t>
            </a:r>
            <a:endParaRPr lang="en-US" sz="2000">
              <a:solidFill>
                <a:schemeClr val="tx2"/>
              </a:solidFill>
              <a:latin typeface="Calibri"/>
              <a:ea typeface="Calibri"/>
              <a:cs typeface="Calibri"/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Chưa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tích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hợp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gửi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email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thông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báo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tự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động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.</a:t>
            </a:r>
            <a:endParaRPr lang="en-US" sz="1800" dirty="0">
              <a:solidFill>
                <a:schemeClr val="tx2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202E3D31-F45D-4158-7E6E-61EAE20A5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9228" y="2038607"/>
            <a:ext cx="3782014" cy="3191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575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8ED2B92-E6F5-05F3-6DE3-E94A78489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 dirty="0" err="1">
                <a:solidFill>
                  <a:schemeClr val="tx2"/>
                </a:solidFill>
                <a:latin typeface="Calibri"/>
                <a:ea typeface="+mj-lt"/>
                <a:cs typeface="+mj-lt"/>
              </a:rPr>
              <a:t>Hướng</a:t>
            </a:r>
            <a:r>
              <a:rPr lang="en-US" sz="3600" dirty="0">
                <a:solidFill>
                  <a:schemeClr val="tx2"/>
                </a:solidFill>
                <a:latin typeface="Calibri"/>
                <a:ea typeface="+mj-lt"/>
                <a:cs typeface="+mj-lt"/>
              </a:rPr>
              <a:t> </a:t>
            </a:r>
            <a:r>
              <a:rPr lang="en-US" sz="3600" dirty="0" err="1">
                <a:solidFill>
                  <a:schemeClr val="tx2"/>
                </a:solidFill>
                <a:latin typeface="Calibri"/>
                <a:ea typeface="+mj-lt"/>
                <a:cs typeface="+mj-lt"/>
              </a:rPr>
              <a:t>phát</a:t>
            </a:r>
            <a:r>
              <a:rPr lang="en-US" sz="3600" dirty="0">
                <a:solidFill>
                  <a:schemeClr val="tx2"/>
                </a:solidFill>
                <a:latin typeface="Calibri"/>
                <a:ea typeface="+mj-lt"/>
                <a:cs typeface="+mj-lt"/>
              </a:rPr>
              <a:t> </a:t>
            </a:r>
            <a:r>
              <a:rPr lang="en-US" sz="3600" dirty="0" err="1">
                <a:solidFill>
                  <a:schemeClr val="tx2"/>
                </a:solidFill>
                <a:latin typeface="Calibri"/>
                <a:ea typeface="+mj-lt"/>
                <a:cs typeface="+mj-lt"/>
              </a:rPr>
              <a:t>triển</a:t>
            </a:r>
            <a:r>
              <a:rPr lang="en-US" sz="3600" dirty="0">
                <a:solidFill>
                  <a:schemeClr val="tx2"/>
                </a:solidFill>
                <a:latin typeface="Calibri"/>
                <a:ea typeface="+mj-lt"/>
                <a:cs typeface="+mj-lt"/>
              </a:rPr>
              <a:t> </a:t>
            </a:r>
            <a:r>
              <a:rPr lang="en-US" sz="3600" dirty="0" err="1">
                <a:solidFill>
                  <a:schemeClr val="tx2"/>
                </a:solidFill>
                <a:latin typeface="Calibri"/>
                <a:ea typeface="+mj-lt"/>
                <a:cs typeface="+mj-lt"/>
              </a:rPr>
              <a:t>trong</a:t>
            </a:r>
            <a:r>
              <a:rPr lang="en-US" sz="3600" dirty="0">
                <a:solidFill>
                  <a:schemeClr val="tx2"/>
                </a:solidFill>
                <a:latin typeface="Calibri"/>
                <a:ea typeface="+mj-lt"/>
                <a:cs typeface="+mj-lt"/>
              </a:rPr>
              <a:t> </a:t>
            </a:r>
            <a:r>
              <a:rPr lang="en-US" sz="3600" dirty="0" err="1">
                <a:solidFill>
                  <a:schemeClr val="tx2"/>
                </a:solidFill>
                <a:latin typeface="Calibri"/>
                <a:ea typeface="+mj-lt"/>
                <a:cs typeface="+mj-lt"/>
              </a:rPr>
              <a:t>tương</a:t>
            </a:r>
            <a:r>
              <a:rPr lang="en-US" sz="3600" dirty="0">
                <a:solidFill>
                  <a:schemeClr val="tx2"/>
                </a:solidFill>
                <a:latin typeface="Calibri"/>
                <a:ea typeface="+mj-lt"/>
                <a:cs typeface="+mj-lt"/>
              </a:rPr>
              <a:t> lai</a:t>
            </a:r>
            <a:endParaRPr lang="en-US" sz="3600" dirty="0">
              <a:solidFill>
                <a:schemeClr val="tx2"/>
              </a:solidFill>
              <a:latin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4D161-D410-6274-94EF-1562FF35A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9812" y="804672"/>
            <a:ext cx="5903612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Nâng</a:t>
            </a:r>
            <a:r>
              <a:rPr lang="en-US" sz="3200" b="1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cấp</a:t>
            </a:r>
            <a:r>
              <a:rPr lang="en-US" sz="3200" b="1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:</a:t>
            </a:r>
            <a:r>
              <a:rPr lang="en-US" sz="32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Tích</a:t>
            </a:r>
            <a:r>
              <a:rPr lang="en-US" sz="32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hợp</a:t>
            </a:r>
            <a:r>
              <a:rPr lang="en-US" sz="32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biểu</a:t>
            </a:r>
            <a:r>
              <a:rPr lang="en-US" sz="32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đồ</a:t>
            </a:r>
            <a:r>
              <a:rPr lang="en-US" sz="32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(Chart.js), </a:t>
            </a:r>
            <a:r>
              <a:rPr lang="en-US" sz="32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hoàn</a:t>
            </a:r>
            <a:r>
              <a:rPr lang="en-US" sz="32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thiện</a:t>
            </a:r>
            <a:r>
              <a:rPr lang="en-US" sz="32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Export Excel/PDF.</a:t>
            </a:r>
            <a:endParaRPr lang="en-US" sz="3200">
              <a:solidFill>
                <a:schemeClr val="tx2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3200" b="1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Mở</a:t>
            </a:r>
            <a:r>
              <a:rPr lang="en-US" sz="3200" b="1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rộng</a:t>
            </a:r>
            <a:r>
              <a:rPr lang="en-US" sz="3200" b="1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:</a:t>
            </a:r>
            <a:endParaRPr lang="en-US" sz="3200">
              <a:solidFill>
                <a:schemeClr val="tx2"/>
              </a:solidFill>
              <a:latin typeface="Calibri"/>
              <a:ea typeface="Calibri"/>
              <a:cs typeface="Calibri"/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en-US" sz="32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Phát</a:t>
            </a:r>
            <a:r>
              <a:rPr lang="en-US" sz="32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triển</a:t>
            </a:r>
            <a:r>
              <a:rPr lang="en-US" sz="32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module </a:t>
            </a:r>
            <a:r>
              <a:rPr lang="en-US" sz="32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thi</a:t>
            </a:r>
            <a:r>
              <a:rPr lang="en-US" sz="32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trắc</a:t>
            </a:r>
            <a:r>
              <a:rPr lang="en-US" sz="32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nghiệm</a:t>
            </a:r>
            <a:r>
              <a:rPr lang="en-US" sz="32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trực</a:t>
            </a:r>
            <a:r>
              <a:rPr lang="en-US" sz="32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tuyến</a:t>
            </a:r>
            <a:r>
              <a:rPr lang="en-US" sz="32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.</a:t>
            </a:r>
            <a:endParaRPr lang="en-US" sz="3200">
              <a:solidFill>
                <a:schemeClr val="tx2"/>
              </a:solidFill>
              <a:latin typeface="Calibri"/>
              <a:ea typeface="Calibri"/>
              <a:cs typeface="Calibri"/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en-US" sz="32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Xây</a:t>
            </a:r>
            <a:r>
              <a:rPr lang="en-US" sz="32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dựng</a:t>
            </a:r>
            <a:r>
              <a:rPr lang="en-US" sz="32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ứng</a:t>
            </a:r>
            <a:r>
              <a:rPr lang="en-US" sz="32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dụng</a:t>
            </a:r>
            <a:r>
              <a:rPr lang="en-US" sz="32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di </a:t>
            </a:r>
            <a:r>
              <a:rPr lang="en-US" sz="32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động</a:t>
            </a:r>
            <a:r>
              <a:rPr lang="en-US" sz="32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(Mobile App).</a:t>
            </a:r>
            <a:endParaRPr lang="en-US" sz="3200">
              <a:solidFill>
                <a:schemeClr val="tx2"/>
              </a:solidFill>
              <a:latin typeface="Calibri"/>
              <a:ea typeface="Calibri"/>
              <a:cs typeface="Calibri"/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en-US" sz="32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Thông </a:t>
            </a:r>
            <a:r>
              <a:rPr lang="en-US" sz="32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báo</a:t>
            </a:r>
            <a:r>
              <a:rPr lang="en-US" sz="32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kết</a:t>
            </a:r>
            <a:r>
              <a:rPr lang="en-US" sz="32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Calibri"/>
                <a:ea typeface="+mn-lt"/>
                <a:cs typeface="+mn-lt"/>
              </a:rPr>
              <a:t>quả</a:t>
            </a:r>
            <a:r>
              <a:rPr lang="en-US" sz="32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 Realtime qua WebSocket.</a:t>
            </a:r>
            <a:endParaRPr lang="en-US" sz="3200">
              <a:solidFill>
                <a:schemeClr val="tx2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45986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EAEE08D-A745-4391-9073-9E99767E0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04539" y="266074"/>
            <a:ext cx="7489662" cy="6252180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E862DF0-097D-4BBD-A1A1-35B522C5E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59414" y="339746"/>
            <a:ext cx="7203799" cy="6030364"/>
          </a:xfrm>
          <a:custGeom>
            <a:avLst/>
            <a:gdLst>
              <a:gd name="connsiteX0" fmla="*/ 4090459 w 7203799"/>
              <a:gd name="connsiteY0" fmla="*/ 146611 h 6030364"/>
              <a:gd name="connsiteX1" fmla="*/ 2634463 w 7203799"/>
              <a:gd name="connsiteY1" fmla="*/ 392518 h 6030364"/>
              <a:gd name="connsiteX2" fmla="*/ 1340972 w 7203799"/>
              <a:gd name="connsiteY2" fmla="*/ 1068045 h 6030364"/>
              <a:gd name="connsiteX3" fmla="*/ 446301 w 7203799"/>
              <a:gd name="connsiteY3" fmla="*/ 2042135 h 6030364"/>
              <a:gd name="connsiteX4" fmla="*/ 121886 w 7203799"/>
              <a:gd name="connsiteY4" fmla="*/ 3175764 h 6030364"/>
              <a:gd name="connsiteX5" fmla="*/ 658808 w 7203799"/>
              <a:gd name="connsiteY5" fmla="*/ 4228382 h 6030364"/>
              <a:gd name="connsiteX6" fmla="*/ 929352 w 7203799"/>
              <a:gd name="connsiteY6" fmla="*/ 4562487 h 6030364"/>
              <a:gd name="connsiteX7" fmla="*/ 3467971 w 7203799"/>
              <a:gd name="connsiteY7" fmla="*/ 5868460 h 6030364"/>
              <a:gd name="connsiteX8" fmla="*/ 5395115 w 7203799"/>
              <a:gd name="connsiteY8" fmla="*/ 5065016 h 6030364"/>
              <a:gd name="connsiteX9" fmla="*/ 5629645 w 7203799"/>
              <a:gd name="connsiteY9" fmla="*/ 4905476 h 6030364"/>
              <a:gd name="connsiteX10" fmla="*/ 6696345 w 7203799"/>
              <a:gd name="connsiteY10" fmla="*/ 4071455 h 6030364"/>
              <a:gd name="connsiteX11" fmla="*/ 7056622 w 7203799"/>
              <a:gd name="connsiteY11" fmla="*/ 3175764 h 6030364"/>
              <a:gd name="connsiteX12" fmla="*/ 6247816 w 7203799"/>
              <a:gd name="connsiteY12" fmla="*/ 991737 h 6030364"/>
              <a:gd name="connsiteX13" fmla="*/ 5337969 w 7203799"/>
              <a:gd name="connsiteY13" fmla="*/ 375142 h 6030364"/>
              <a:gd name="connsiteX14" fmla="*/ 4090459 w 7203799"/>
              <a:gd name="connsiteY14" fmla="*/ 146611 h 6030364"/>
              <a:gd name="connsiteX15" fmla="*/ 4122552 w 7203799"/>
              <a:gd name="connsiteY15" fmla="*/ 0 h 6030364"/>
              <a:gd name="connsiteX16" fmla="*/ 5418463 w 7203799"/>
              <a:gd name="connsiteY16" fmla="*/ 240852 h 6030364"/>
              <a:gd name="connsiteX17" fmla="*/ 6363612 w 7203799"/>
              <a:gd name="connsiteY17" fmla="*/ 890695 h 6030364"/>
              <a:gd name="connsiteX18" fmla="*/ 7203799 w 7203799"/>
              <a:gd name="connsiteY18" fmla="*/ 3192481 h 6030364"/>
              <a:gd name="connsiteX19" fmla="*/ 6829541 w 7203799"/>
              <a:gd name="connsiteY19" fmla="*/ 4136467 h 6030364"/>
              <a:gd name="connsiteX20" fmla="*/ 5721456 w 7203799"/>
              <a:gd name="connsiteY20" fmla="*/ 5015457 h 6030364"/>
              <a:gd name="connsiteX21" fmla="*/ 5477826 w 7203799"/>
              <a:gd name="connsiteY21" fmla="*/ 5183599 h 6030364"/>
              <a:gd name="connsiteX22" fmla="*/ 3475911 w 7203799"/>
              <a:gd name="connsiteY22" fmla="*/ 6030364 h 6030364"/>
              <a:gd name="connsiteX23" fmla="*/ 838794 w 7203799"/>
              <a:gd name="connsiteY23" fmla="*/ 4653974 h 6030364"/>
              <a:gd name="connsiteX24" fmla="*/ 557754 w 7203799"/>
              <a:gd name="connsiteY24" fmla="*/ 4301854 h 6030364"/>
              <a:gd name="connsiteX25" fmla="*/ 0 w 7203799"/>
              <a:gd name="connsiteY25" fmla="*/ 3192481 h 6030364"/>
              <a:gd name="connsiteX26" fmla="*/ 337002 w 7203799"/>
              <a:gd name="connsiteY26" fmla="*/ 1997729 h 6030364"/>
              <a:gd name="connsiteX27" fmla="*/ 1266386 w 7203799"/>
              <a:gd name="connsiteY27" fmla="*/ 971116 h 6030364"/>
              <a:gd name="connsiteX28" fmla="*/ 2610064 w 7203799"/>
              <a:gd name="connsiteY28" fmla="*/ 259166 h 6030364"/>
              <a:gd name="connsiteX29" fmla="*/ 4122552 w 7203799"/>
              <a:gd name="connsiteY29" fmla="*/ 0 h 603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7203799" h="6030364">
                <a:moveTo>
                  <a:pt x="4090459" y="146611"/>
                </a:moveTo>
                <a:cubicBezTo>
                  <a:pt x="3606963" y="146611"/>
                  <a:pt x="3116919" y="229322"/>
                  <a:pt x="2634463" y="392518"/>
                </a:cubicBezTo>
                <a:cubicBezTo>
                  <a:pt x="2164657" y="551144"/>
                  <a:pt x="1717473" y="784767"/>
                  <a:pt x="1340972" y="1068045"/>
                </a:cubicBezTo>
                <a:cubicBezTo>
                  <a:pt x="957924" y="1356158"/>
                  <a:pt x="656874" y="1683987"/>
                  <a:pt x="446301" y="2042135"/>
                </a:cubicBezTo>
                <a:cubicBezTo>
                  <a:pt x="231114" y="2408251"/>
                  <a:pt x="121886" y="2789658"/>
                  <a:pt x="121886" y="3175764"/>
                </a:cubicBezTo>
                <a:cubicBezTo>
                  <a:pt x="121886" y="3564616"/>
                  <a:pt x="296147" y="3791707"/>
                  <a:pt x="658808" y="4228382"/>
                </a:cubicBezTo>
                <a:cubicBezTo>
                  <a:pt x="746310" y="4333697"/>
                  <a:pt x="836791" y="4442668"/>
                  <a:pt x="929352" y="4562487"/>
                </a:cubicBezTo>
                <a:cubicBezTo>
                  <a:pt x="1636666" y="5477909"/>
                  <a:pt x="2395913" y="5868460"/>
                  <a:pt x="3467971" y="5868460"/>
                </a:cubicBezTo>
                <a:cubicBezTo>
                  <a:pt x="4171563" y="5868460"/>
                  <a:pt x="4687799" y="5550298"/>
                  <a:pt x="5395115" y="5065016"/>
                </a:cubicBezTo>
                <a:cubicBezTo>
                  <a:pt x="5474133" y="5010792"/>
                  <a:pt x="5553154" y="4957219"/>
                  <a:pt x="5629645" y="4905476"/>
                </a:cubicBezTo>
                <a:cubicBezTo>
                  <a:pt x="6044240" y="4624684"/>
                  <a:pt x="6435769" y="4359438"/>
                  <a:pt x="6696345" y="4071455"/>
                </a:cubicBezTo>
                <a:cubicBezTo>
                  <a:pt x="6945459" y="3796151"/>
                  <a:pt x="7056622" y="3519931"/>
                  <a:pt x="7056622" y="3175764"/>
                </a:cubicBezTo>
                <a:cubicBezTo>
                  <a:pt x="7056622" y="2313128"/>
                  <a:pt x="6769413" y="1537514"/>
                  <a:pt x="6247816" y="991737"/>
                </a:cubicBezTo>
                <a:cubicBezTo>
                  <a:pt x="5992603" y="724794"/>
                  <a:pt x="5686492" y="517301"/>
                  <a:pt x="5337969" y="375142"/>
                </a:cubicBezTo>
                <a:cubicBezTo>
                  <a:pt x="4966082" y="223571"/>
                  <a:pt x="4546427" y="146611"/>
                  <a:pt x="4090459" y="146611"/>
                </a:cubicBezTo>
                <a:close/>
                <a:moveTo>
                  <a:pt x="4122552" y="0"/>
                </a:moveTo>
                <a:cubicBezTo>
                  <a:pt x="4596209" y="0"/>
                  <a:pt x="5032147" y="81110"/>
                  <a:pt x="5418463" y="240852"/>
                </a:cubicBezTo>
                <a:cubicBezTo>
                  <a:pt x="5780509" y="390677"/>
                  <a:pt x="6098496" y="609358"/>
                  <a:pt x="6363612" y="890695"/>
                </a:cubicBezTo>
                <a:cubicBezTo>
                  <a:pt x="6905445" y="1465899"/>
                  <a:pt x="7203799" y="2283333"/>
                  <a:pt x="7203799" y="3192481"/>
                </a:cubicBezTo>
                <a:cubicBezTo>
                  <a:pt x="7203799" y="3555204"/>
                  <a:pt x="7088321" y="3846319"/>
                  <a:pt x="6829541" y="4136467"/>
                </a:cubicBezTo>
                <a:cubicBezTo>
                  <a:pt x="6558859" y="4439977"/>
                  <a:pt x="6152137" y="4719524"/>
                  <a:pt x="5721456" y="5015457"/>
                </a:cubicBezTo>
                <a:cubicBezTo>
                  <a:pt x="5641997" y="5069990"/>
                  <a:pt x="5559911" y="5126451"/>
                  <a:pt x="5477826" y="5183599"/>
                </a:cubicBezTo>
                <a:cubicBezTo>
                  <a:pt x="4743067" y="5695047"/>
                  <a:pt x="4206801" y="6030364"/>
                  <a:pt x="3475911" y="6030364"/>
                </a:cubicBezTo>
                <a:cubicBezTo>
                  <a:pt x="2362258" y="6030364"/>
                  <a:pt x="1573553" y="5618755"/>
                  <a:pt x="838794" y="4653974"/>
                </a:cubicBezTo>
                <a:cubicBezTo>
                  <a:pt x="742641" y="4527696"/>
                  <a:pt x="648651" y="4412849"/>
                  <a:pt x="557754" y="4301854"/>
                </a:cubicBezTo>
                <a:cubicBezTo>
                  <a:pt x="181022" y="3841635"/>
                  <a:pt x="0" y="3602300"/>
                  <a:pt x="0" y="3192481"/>
                </a:cubicBezTo>
                <a:cubicBezTo>
                  <a:pt x="0" y="2785556"/>
                  <a:pt x="113467" y="2383584"/>
                  <a:pt x="337002" y="1997729"/>
                </a:cubicBezTo>
                <a:cubicBezTo>
                  <a:pt x="555744" y="1620270"/>
                  <a:pt x="868475" y="1274763"/>
                  <a:pt x="1266386" y="971116"/>
                </a:cubicBezTo>
                <a:cubicBezTo>
                  <a:pt x="1657494" y="672565"/>
                  <a:pt x="2122028" y="426344"/>
                  <a:pt x="2610064" y="259166"/>
                </a:cubicBezTo>
                <a:cubicBezTo>
                  <a:pt x="3111237" y="87171"/>
                  <a:pt x="3620296" y="0"/>
                  <a:pt x="4122552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7" name="Content Placeholder 6" descr="Những Hình Ảnh Cảm Ơn Đẹp Nhất: Nâng Tầm Mối Quan Hệ - Chọn Trường Tốt Nhất">
            <a:extLst>
              <a:ext uri="{FF2B5EF4-FFF2-40B4-BE49-F238E27FC236}">
                <a16:creationId xmlns:a16="http://schemas.microsoft.com/office/drawing/2014/main" id="{B6567DA7-995C-D635-AF08-1E1E256350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6640" r="-3" b="9647"/>
          <a:stretch>
            <a:fillRect/>
          </a:stretch>
        </p:blipFill>
        <p:spPr>
          <a:xfrm>
            <a:off x="2659414" y="339746"/>
            <a:ext cx="7203799" cy="6030364"/>
          </a:xfrm>
          <a:custGeom>
            <a:avLst/>
            <a:gdLst/>
            <a:ahLst/>
            <a:cxnLst/>
            <a:rect l="l" t="t" r="r" b="b"/>
            <a:pathLst>
              <a:path w="7203799" h="6030364">
                <a:moveTo>
                  <a:pt x="4122552" y="0"/>
                </a:moveTo>
                <a:cubicBezTo>
                  <a:pt x="4596210" y="0"/>
                  <a:pt x="5032147" y="81110"/>
                  <a:pt x="5418463" y="240852"/>
                </a:cubicBezTo>
                <a:cubicBezTo>
                  <a:pt x="5780509" y="390677"/>
                  <a:pt x="6098496" y="609358"/>
                  <a:pt x="6363612" y="890695"/>
                </a:cubicBezTo>
                <a:cubicBezTo>
                  <a:pt x="6905445" y="1465899"/>
                  <a:pt x="7203799" y="2283333"/>
                  <a:pt x="7203799" y="3192481"/>
                </a:cubicBezTo>
                <a:cubicBezTo>
                  <a:pt x="7203799" y="3555204"/>
                  <a:pt x="7088321" y="3846319"/>
                  <a:pt x="6829541" y="4136467"/>
                </a:cubicBezTo>
                <a:cubicBezTo>
                  <a:pt x="6558859" y="4439977"/>
                  <a:pt x="6152137" y="4719524"/>
                  <a:pt x="5721456" y="5015457"/>
                </a:cubicBezTo>
                <a:cubicBezTo>
                  <a:pt x="5641997" y="5069990"/>
                  <a:pt x="5559911" y="5126451"/>
                  <a:pt x="5477826" y="5183599"/>
                </a:cubicBezTo>
                <a:cubicBezTo>
                  <a:pt x="4743068" y="5695047"/>
                  <a:pt x="4206802" y="6030364"/>
                  <a:pt x="3475911" y="6030364"/>
                </a:cubicBezTo>
                <a:cubicBezTo>
                  <a:pt x="2362258" y="6030364"/>
                  <a:pt x="1573553" y="5618755"/>
                  <a:pt x="838794" y="4653974"/>
                </a:cubicBezTo>
                <a:cubicBezTo>
                  <a:pt x="742642" y="4527696"/>
                  <a:pt x="648651" y="4412849"/>
                  <a:pt x="557754" y="4301854"/>
                </a:cubicBezTo>
                <a:cubicBezTo>
                  <a:pt x="181022" y="3841635"/>
                  <a:pt x="0" y="3602300"/>
                  <a:pt x="0" y="3192481"/>
                </a:cubicBezTo>
                <a:cubicBezTo>
                  <a:pt x="0" y="2785556"/>
                  <a:pt x="113467" y="2383585"/>
                  <a:pt x="337003" y="1997729"/>
                </a:cubicBezTo>
                <a:cubicBezTo>
                  <a:pt x="555745" y="1620270"/>
                  <a:pt x="868475" y="1274763"/>
                  <a:pt x="1266386" y="971116"/>
                </a:cubicBezTo>
                <a:cubicBezTo>
                  <a:pt x="1657494" y="672565"/>
                  <a:pt x="2122028" y="426344"/>
                  <a:pt x="2610064" y="259166"/>
                </a:cubicBezTo>
                <a:cubicBezTo>
                  <a:pt x="3111238" y="87171"/>
                  <a:pt x="3620296" y="0"/>
                  <a:pt x="4122552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6644542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ủ đề củ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Văn phòng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ăn phòng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Chủ đề của Office</vt:lpstr>
      <vt:lpstr>BÁO CÁO CHUYÊN NGÀNH  Đề tài: Xây dựng Website Quản lý các Kỳ thi của Trung tâm Ngoại ngữ – Tin học</vt:lpstr>
      <vt:lpstr>Tổng quan nội dung</vt:lpstr>
      <vt:lpstr>TỔNG QUAN ĐỀ TÀI</vt:lpstr>
      <vt:lpstr>TỔNG QUAN ĐỀ TÀI</vt:lpstr>
      <vt:lpstr>TỔNG QUAN ĐỀ TÀI</vt:lpstr>
      <vt:lpstr>CÔNG NGHỆ SỬ DỤNG</vt:lpstr>
      <vt:lpstr>CÔNG NGHỆ SỬ DỤNG</vt:lpstr>
      <vt:lpstr>CÔNG NGHỆ SỬ DỤNG</vt:lpstr>
      <vt:lpstr>CÔNG NGHỆ SỬ DỤNG</vt:lpstr>
      <vt:lpstr>PHÂN TÍCH &amp; THIẾT KẾ HỆ THỐNG</vt:lpstr>
      <vt:lpstr>Sơ đồ Use Case Tổng quát</vt:lpstr>
      <vt:lpstr>Quy trình nghiệp vụ chính</vt:lpstr>
      <vt:lpstr>Thiết kế Cơ sở dữ liệu</vt:lpstr>
      <vt:lpstr>Thiết kế Giao diện (Wireframe)</vt:lpstr>
      <vt:lpstr>KẾT QUẢ &amp; HƯỚNG PHÁT TRIỂN</vt:lpstr>
      <vt:lpstr>Kết luận &amp; Hạn chế</vt:lpstr>
      <vt:lpstr>Hướng phát triển trong tương lai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388</cp:revision>
  <dcterms:created xsi:type="dcterms:W3CDTF">2026-01-05T07:05:12Z</dcterms:created>
  <dcterms:modified xsi:type="dcterms:W3CDTF">2026-01-07T14:41:36Z</dcterms:modified>
</cp:coreProperties>
</file>